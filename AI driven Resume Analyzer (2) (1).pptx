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300" r:id="rId6"/>
    <p:sldId id="302" r:id="rId7"/>
    <p:sldId id="303" r:id="rId8"/>
    <p:sldId id="304" r:id="rId9"/>
    <p:sldId id="305" r:id="rId10"/>
    <p:sldId id="306" r:id="rId11"/>
    <p:sldId id="307" r:id="rId12"/>
    <p:sldId id="314" r:id="rId13"/>
    <p:sldId id="310" r:id="rId14"/>
    <p:sldId id="311" r:id="rId15"/>
    <p:sldId id="299" r:id="rId16"/>
  </p:sldIdLst>
  <p:sldSz cx="9144000" cy="5143500" type="screen16x9"/>
  <p:notesSz cx="6858000" cy="9144000"/>
  <p:embeddedFontLst>
    <p:embeddedFont>
      <p:font typeface="Golos Text Medium" panose="020B0503020202020204"/>
      <p:regular r:id="rId20"/>
    </p:embeddedFont>
    <p:embeddedFont>
      <p:font typeface="Golos Text" panose="020B0503020202020204"/>
      <p:regular r:id="rId21"/>
    </p:embeddedFont>
    <p:embeddedFont>
      <p:font typeface="Bebas Neue" panose="020B0606020202050201"/>
      <p:regular r:id="rId22"/>
    </p:embeddedFont>
    <p:embeddedFont>
      <p:font typeface="Trebuchet MS" panose="020B0603020202020204" charset="0"/>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Segoe UI Semibold" panose="020B0702040204020203" pitchFamily="34" charset="0"/>
      <p:bold r:id="rId31"/>
    </p:embeddedFont>
    <p:embeddedFont>
      <p:font typeface="Roboto Slab" pitchFamily="34" charset="0"/>
      <p:regular r:id="rId32"/>
      <p:bold r:id="rId33"/>
    </p:embeddedFont>
    <p:embeddedFont>
      <p:font typeface="Roboto Slab" pitchFamily="34" charset="-122"/>
      <p:regular r:id="rId34"/>
    </p:embeddedFont>
    <p:embeddedFont>
      <p:font typeface="Roboto Slab" pitchFamily="34" charset="-12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7997"/>
    <a:srgbClr val="585858"/>
    <a:srgbClr val="697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1194"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font" Target="fonts/font16.fntdata"/><Relationship Id="rId34" Type="http://schemas.openxmlformats.org/officeDocument/2006/relationships/font" Target="fonts/font15.fntdata"/><Relationship Id="rId33" Type="http://schemas.openxmlformats.org/officeDocument/2006/relationships/font" Target="fonts/font14.fntdata"/><Relationship Id="rId32" Type="http://schemas.openxmlformats.org/officeDocument/2006/relationships/font" Target="fonts/font13.fntdata"/><Relationship Id="rId31" Type="http://schemas.openxmlformats.org/officeDocument/2006/relationships/font" Target="fonts/font12.fntdata"/><Relationship Id="rId30" Type="http://schemas.openxmlformats.org/officeDocument/2006/relationships/font" Target="fonts/font11.fntdata"/><Relationship Id="rId3" Type="http://schemas.openxmlformats.org/officeDocument/2006/relationships/slide" Target="slides/slide1.xml"/><Relationship Id="rId29" Type="http://schemas.openxmlformats.org/officeDocument/2006/relationships/font" Target="fonts/font10.fntdata"/><Relationship Id="rId28" Type="http://schemas.openxmlformats.org/officeDocument/2006/relationships/font" Target="fonts/font9.fntdata"/><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g22a8e28482d_0_6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2a8e28482d_0_6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2a8e28482d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2a8e28482d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5100" y="714150"/>
            <a:ext cx="4652400" cy="18576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4800" b="0">
                <a:latin typeface="Golos Text Medium" panose="020B0503020202020204"/>
                <a:ea typeface="Golos Text Medium" panose="020B0503020202020204"/>
                <a:cs typeface="Golos Text Medium" panose="020B0503020202020204"/>
                <a:sym typeface="Golos Text Medium" panose="020B0503020202020204"/>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1"/>
        <p:cNvGrpSpPr/>
        <p:nvPr/>
      </p:nvGrpSpPr>
      <p:grpSpPr>
        <a:xfrm>
          <a:off x="0" y="0"/>
          <a:ext cx="0" cy="0"/>
          <a:chOff x="0" y="0"/>
          <a:chExt cx="0" cy="0"/>
        </a:xfrm>
      </p:grpSpPr>
      <p:pic>
        <p:nvPicPr>
          <p:cNvPr id="12" name="Google Shape;12;p3"/>
          <p:cNvPicPr preferRelativeResize="0"/>
          <p:nvPr/>
        </p:nvPicPr>
        <p:blipFill>
          <a:blip r:embed="rId2"/>
          <a:stretch>
            <a:fillRect/>
          </a:stretch>
        </p:blipFill>
        <p:spPr>
          <a:xfrm>
            <a:off x="0" y="0"/>
            <a:ext cx="9144000" cy="5143500"/>
          </a:xfrm>
          <a:prstGeom prst="rect">
            <a:avLst/>
          </a:prstGeom>
          <a:noFill/>
          <a:ln>
            <a:noFill/>
          </a:ln>
        </p:spPr>
      </p:pic>
      <p:sp>
        <p:nvSpPr>
          <p:cNvPr id="13" name="Google Shape;13;p3"/>
          <p:cNvSpPr txBox="1">
            <a:spLocks noGrp="1"/>
          </p:cNvSpPr>
          <p:nvPr>
            <p:ph type="title"/>
          </p:nvPr>
        </p:nvSpPr>
        <p:spPr>
          <a:xfrm>
            <a:off x="715100" y="1925850"/>
            <a:ext cx="7713900" cy="1835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700" b="0">
                <a:latin typeface="Golos Text Medium" panose="020B0503020202020204"/>
                <a:ea typeface="Golos Text Medium" panose="020B0503020202020204"/>
                <a:cs typeface="Golos Text Medium" panose="020B0503020202020204"/>
                <a:sym typeface="Golos Text Medium" panose="020B0503020202020204"/>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a:spLocks noGrp="1"/>
          </p:cNvSpPr>
          <p:nvPr>
            <p:ph type="title" idx="2" hasCustomPrompt="1"/>
          </p:nvPr>
        </p:nvSpPr>
        <p:spPr>
          <a:xfrm>
            <a:off x="715100" y="701850"/>
            <a:ext cx="2035200" cy="1071600"/>
          </a:xfrm>
          <a:prstGeom prst="rect">
            <a:avLst/>
          </a:prstGeom>
        </p:spPr>
        <p:txBody>
          <a:bodyPr spcFirstLastPara="1" wrap="square" lIns="91425" tIns="91425" rIns="91425" bIns="91425" anchor="t" anchorCtr="0">
            <a:noAutofit/>
          </a:bodyPr>
          <a:lstStyle>
            <a:lvl1pPr lvl="0" rtl="0">
              <a:spcBef>
                <a:spcPts val="0"/>
              </a:spcBef>
              <a:spcAft>
                <a:spcPts val="0"/>
              </a:spcAft>
              <a:buSzPts val="6000"/>
              <a:buNone/>
              <a:defRPr sz="5000" b="0">
                <a:solidFill>
                  <a:schemeClr val="accent3"/>
                </a:solidFill>
                <a:latin typeface="Golos Text Medium" panose="020B0503020202020204"/>
                <a:ea typeface="Golos Text Medium" panose="020B0503020202020204"/>
                <a:cs typeface="Golos Text Medium" panose="020B0503020202020204"/>
                <a:sym typeface="Golos Text Medium" panose="020B0503020202020204"/>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19"/>
        <p:cNvGrpSpPr/>
        <p:nvPr/>
      </p:nvGrpSpPr>
      <p:grpSpPr>
        <a:xfrm>
          <a:off x="0" y="0"/>
          <a:ext cx="0" cy="0"/>
          <a:chOff x="0" y="0"/>
          <a:chExt cx="0" cy="0"/>
        </a:xfrm>
      </p:grpSpPr>
      <p:pic>
        <p:nvPicPr>
          <p:cNvPr id="20" name="Google Shape;20;p5"/>
          <p:cNvPicPr preferRelativeResize="0"/>
          <p:nvPr/>
        </p:nvPicPr>
        <p:blipFill>
          <a:blip r:embed="rId2"/>
          <a:stretch>
            <a:fillRect/>
          </a:stretch>
        </p:blipFill>
        <p:spPr>
          <a:xfrm>
            <a:off x="0" y="0"/>
            <a:ext cx="9144000" cy="5143500"/>
          </a:xfrm>
          <a:prstGeom prst="rect">
            <a:avLst/>
          </a:prstGeom>
          <a:noFill/>
          <a:ln>
            <a:noFill/>
          </a:ln>
        </p:spPr>
      </p:pic>
      <p:sp>
        <p:nvSpPr>
          <p:cNvPr id="21" name="Google Shape;21;p5"/>
          <p:cNvSpPr txBox="1">
            <a:spLocks noGrp="1"/>
          </p:cNvSpPr>
          <p:nvPr>
            <p:ph type="subTitle" idx="1"/>
          </p:nvPr>
        </p:nvSpPr>
        <p:spPr>
          <a:xfrm>
            <a:off x="715100" y="1767700"/>
            <a:ext cx="3856800" cy="2840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22" name="Google Shape;22;p5"/>
          <p:cNvSpPr txBox="1">
            <a:spLocks noGrp="1"/>
          </p:cNvSpPr>
          <p:nvPr>
            <p:ph type="title"/>
          </p:nvPr>
        </p:nvSpPr>
        <p:spPr>
          <a:xfrm>
            <a:off x="715100" y="535000"/>
            <a:ext cx="7713900" cy="7074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000"/>
              <a:buFont typeface="Golos Text Medium" panose="020B0503020202020204"/>
              <a:buNone/>
              <a:defRPr sz="30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2pPr>
            <a:lvl3pPr lvl="2"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3pPr>
            <a:lvl4pPr lvl="3"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4pPr>
            <a:lvl5pPr lvl="4"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5pPr>
            <a:lvl6pPr lvl="5"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6pPr>
            <a:lvl7pPr lvl="6"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7pPr>
            <a:lvl8pPr lvl="7"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8pPr>
            <a:lvl9pPr lvl="8"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9pPr>
          </a:lstStyle>
          <a:p/>
        </p:txBody>
      </p:sp>
      <p:sp>
        <p:nvSpPr>
          <p:cNvPr id="23" name="Google Shape;23;p5"/>
          <p:cNvSpPr txBox="1">
            <a:spLocks noGrp="1"/>
          </p:cNvSpPr>
          <p:nvPr>
            <p:ph type="subTitle" idx="2"/>
          </p:nvPr>
        </p:nvSpPr>
        <p:spPr>
          <a:xfrm>
            <a:off x="715096" y="1242400"/>
            <a:ext cx="3856800" cy="5253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panose="020B0606020202050201"/>
              <a:buNone/>
              <a:defRPr sz="20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p:txBody>
      </p:sp>
      <p:sp>
        <p:nvSpPr>
          <p:cNvPr id="24" name="Google Shape;24;p5"/>
          <p:cNvSpPr txBox="1">
            <a:spLocks noGrp="1"/>
          </p:cNvSpPr>
          <p:nvPr>
            <p:ph type="subTitle" idx="3"/>
          </p:nvPr>
        </p:nvSpPr>
        <p:spPr>
          <a:xfrm>
            <a:off x="4572000" y="1767700"/>
            <a:ext cx="3856800" cy="2840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25" name="Google Shape;25;p5"/>
          <p:cNvSpPr txBox="1">
            <a:spLocks noGrp="1"/>
          </p:cNvSpPr>
          <p:nvPr>
            <p:ph type="subTitle" idx="4"/>
          </p:nvPr>
        </p:nvSpPr>
        <p:spPr>
          <a:xfrm>
            <a:off x="4571996" y="1242400"/>
            <a:ext cx="3856800" cy="5253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panose="020B0606020202050201"/>
              <a:buNone/>
              <a:defRPr sz="20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pic>
        <p:nvPicPr>
          <p:cNvPr id="37" name="Google Shape;37;p9"/>
          <p:cNvPicPr preferRelativeResize="0"/>
          <p:nvPr/>
        </p:nvPicPr>
        <p:blipFill>
          <a:blip r:embed="rId2"/>
          <a:stretch>
            <a:fillRect/>
          </a:stretch>
        </p:blipFill>
        <p:spPr>
          <a:xfrm>
            <a:off x="0" y="0"/>
            <a:ext cx="9144000" cy="5143500"/>
          </a:xfrm>
          <a:prstGeom prst="rect">
            <a:avLst/>
          </a:prstGeom>
          <a:noFill/>
          <a:ln>
            <a:noFill/>
          </a:ln>
        </p:spPr>
      </p:pic>
      <p:sp>
        <p:nvSpPr>
          <p:cNvPr id="38" name="Google Shape;38;p9"/>
          <p:cNvSpPr txBox="1">
            <a:spLocks noGrp="1"/>
          </p:cNvSpPr>
          <p:nvPr>
            <p:ph type="title"/>
          </p:nvPr>
        </p:nvSpPr>
        <p:spPr>
          <a:xfrm>
            <a:off x="720000" y="367423"/>
            <a:ext cx="77040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39" name="Google Shape;39;p9"/>
          <p:cNvSpPr txBox="1">
            <a:spLocks noGrp="1"/>
          </p:cNvSpPr>
          <p:nvPr>
            <p:ph type="subTitle" idx="1"/>
          </p:nvPr>
        </p:nvSpPr>
        <p:spPr>
          <a:xfrm>
            <a:off x="2241550" y="1348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0"/>
        <p:cNvGrpSpPr/>
        <p:nvPr/>
      </p:nvGrpSpPr>
      <p:grpSpPr>
        <a:xfrm>
          <a:off x="0" y="0"/>
          <a:ext cx="0" cy="0"/>
          <a:chOff x="0" y="0"/>
          <a:chExt cx="0" cy="0"/>
        </a:xfrm>
      </p:grpSpPr>
      <p:pic>
        <p:nvPicPr>
          <p:cNvPr id="41" name="Google Shape;41;p10"/>
          <p:cNvPicPr preferRelativeResize="0"/>
          <p:nvPr/>
        </p:nvPicPr>
        <p:blipFill>
          <a:blip r:embed="rId2"/>
          <a:stretch>
            <a:fillRect/>
          </a:stretch>
        </p:blipFill>
        <p:spPr>
          <a:xfrm>
            <a:off x="0" y="0"/>
            <a:ext cx="9144000" cy="5143500"/>
          </a:xfrm>
          <a:prstGeom prst="rect">
            <a:avLst/>
          </a:prstGeom>
          <a:noFill/>
          <a:ln>
            <a:noFill/>
          </a:ln>
        </p:spPr>
      </p:pic>
      <p:sp>
        <p:nvSpPr>
          <p:cNvPr id="42" name="Google Shape;42;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3"/>
        <p:cNvGrpSpPr/>
        <p:nvPr/>
      </p:nvGrpSpPr>
      <p:grpSpPr>
        <a:xfrm>
          <a:off x="0" y="0"/>
          <a:ext cx="0" cy="0"/>
          <a:chOff x="0" y="0"/>
          <a:chExt cx="0" cy="0"/>
        </a:xfrm>
      </p:grpSpPr>
      <p:pic>
        <p:nvPicPr>
          <p:cNvPr id="44" name="Google Shape;44;p11"/>
          <p:cNvPicPr preferRelativeResize="0"/>
          <p:nvPr/>
        </p:nvPicPr>
        <p:blipFill>
          <a:blip r:embed="rId2"/>
          <a:stretch>
            <a:fillRect/>
          </a:stretch>
        </p:blipFill>
        <p:spPr>
          <a:xfrm>
            <a:off x="0" y="0"/>
            <a:ext cx="9144000" cy="5143500"/>
          </a:xfrm>
          <a:prstGeom prst="rect">
            <a:avLst/>
          </a:prstGeom>
          <a:noFill/>
          <a:ln>
            <a:noFill/>
          </a:ln>
        </p:spPr>
      </p:pic>
      <p:sp>
        <p:nvSpPr>
          <p:cNvPr id="45" name="Google Shape;45;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6" name="Google Shape;46;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48"/>
        <p:cNvGrpSpPr/>
        <p:nvPr/>
      </p:nvGrpSpPr>
      <p:grpSpPr>
        <a:xfrm>
          <a:off x="0" y="0"/>
          <a:ext cx="0" cy="0"/>
          <a:chOff x="0" y="0"/>
          <a:chExt cx="0" cy="0"/>
        </a:xfrm>
      </p:grpSpPr>
      <p:pic>
        <p:nvPicPr>
          <p:cNvPr id="49" name="Google Shape;49;p13"/>
          <p:cNvPicPr preferRelativeResize="0"/>
          <p:nvPr/>
        </p:nvPicPr>
        <p:blipFill>
          <a:blip r:embed="rId2"/>
          <a:stretch>
            <a:fillRect/>
          </a:stretch>
        </p:blipFill>
        <p:spPr>
          <a:xfrm rot="10800000">
            <a:off x="0" y="0"/>
            <a:ext cx="9144000" cy="5143500"/>
          </a:xfrm>
          <a:prstGeom prst="rect">
            <a:avLst/>
          </a:prstGeom>
          <a:noFill/>
          <a:ln>
            <a:noFill/>
          </a:ln>
        </p:spPr>
      </p:pic>
      <p:sp>
        <p:nvSpPr>
          <p:cNvPr id="50" name="Google Shape;50;p13"/>
          <p:cNvSpPr txBox="1">
            <a:spLocks noGrp="1"/>
          </p:cNvSpPr>
          <p:nvPr>
            <p:ph type="title" hasCustomPrompt="1"/>
          </p:nvPr>
        </p:nvSpPr>
        <p:spPr>
          <a:xfrm>
            <a:off x="715100" y="1547208"/>
            <a:ext cx="13356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000" b="0">
                <a:solidFill>
                  <a:schemeClr val="accent3"/>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1" name="Google Shape;51;p13"/>
          <p:cNvSpPr txBox="1">
            <a:spLocks noGrp="1"/>
          </p:cNvSpPr>
          <p:nvPr>
            <p:ph type="subTitle" idx="1"/>
          </p:nvPr>
        </p:nvSpPr>
        <p:spPr>
          <a:xfrm>
            <a:off x="2050814" y="1547208"/>
            <a:ext cx="63783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Bebas Neue" panose="020B0606020202050201"/>
              <a:buNone/>
              <a:defRPr sz="20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p:txBody>
      </p:sp>
      <p:sp>
        <p:nvSpPr>
          <p:cNvPr id="52" name="Google Shape;52;p13"/>
          <p:cNvSpPr txBox="1">
            <a:spLocks noGrp="1"/>
          </p:cNvSpPr>
          <p:nvPr>
            <p:ph type="title" idx="2"/>
          </p:nvPr>
        </p:nvSpPr>
        <p:spPr>
          <a:xfrm>
            <a:off x="715100" y="535000"/>
            <a:ext cx="7713900" cy="707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000"/>
              <a:buFont typeface="Golos Text" panose="020B0503020202020204"/>
              <a:buNone/>
              <a:defRPr sz="3000" b="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lnSpc>
                <a:spcPct val="115000"/>
              </a:lnSpc>
              <a:spcBef>
                <a:spcPts val="0"/>
              </a:spcBef>
              <a:spcAft>
                <a:spcPts val="0"/>
              </a:spcAft>
              <a:buClr>
                <a:schemeClr val="dk1"/>
              </a:buClr>
              <a:buSzPts val="3200"/>
              <a:buFont typeface="Golos Text" panose="020B0503020202020204"/>
              <a:buNone/>
              <a:defRPr sz="3200" b="1">
                <a:solidFill>
                  <a:schemeClr val="dk1"/>
                </a:solidFill>
                <a:latin typeface="Golos Text" panose="020B0503020202020204"/>
                <a:ea typeface="Golos Text" panose="020B0503020202020204"/>
                <a:cs typeface="Golos Text" panose="020B0503020202020204"/>
                <a:sym typeface="Golos Text" panose="020B0503020202020204"/>
              </a:defRPr>
            </a:lvl2pPr>
            <a:lvl3pPr lvl="2" rtl="0">
              <a:lnSpc>
                <a:spcPct val="115000"/>
              </a:lnSpc>
              <a:spcBef>
                <a:spcPts val="0"/>
              </a:spcBef>
              <a:spcAft>
                <a:spcPts val="0"/>
              </a:spcAft>
              <a:buClr>
                <a:schemeClr val="dk1"/>
              </a:buClr>
              <a:buSzPts val="3200"/>
              <a:buFont typeface="Golos Text" panose="020B0503020202020204"/>
              <a:buNone/>
              <a:defRPr sz="3200" b="1">
                <a:solidFill>
                  <a:schemeClr val="dk1"/>
                </a:solidFill>
                <a:latin typeface="Golos Text" panose="020B0503020202020204"/>
                <a:ea typeface="Golos Text" panose="020B0503020202020204"/>
                <a:cs typeface="Golos Text" panose="020B0503020202020204"/>
                <a:sym typeface="Golos Text" panose="020B0503020202020204"/>
              </a:defRPr>
            </a:lvl3pPr>
            <a:lvl4pPr lvl="3" rtl="0">
              <a:lnSpc>
                <a:spcPct val="115000"/>
              </a:lnSpc>
              <a:spcBef>
                <a:spcPts val="0"/>
              </a:spcBef>
              <a:spcAft>
                <a:spcPts val="0"/>
              </a:spcAft>
              <a:buClr>
                <a:schemeClr val="dk1"/>
              </a:buClr>
              <a:buSzPts val="3200"/>
              <a:buFont typeface="Golos Text" panose="020B0503020202020204"/>
              <a:buNone/>
              <a:defRPr sz="3200" b="1">
                <a:solidFill>
                  <a:schemeClr val="dk1"/>
                </a:solidFill>
                <a:latin typeface="Golos Text" panose="020B0503020202020204"/>
                <a:ea typeface="Golos Text" panose="020B0503020202020204"/>
                <a:cs typeface="Golos Text" panose="020B0503020202020204"/>
                <a:sym typeface="Golos Text" panose="020B0503020202020204"/>
              </a:defRPr>
            </a:lvl4pPr>
            <a:lvl5pPr lvl="4" rtl="0">
              <a:lnSpc>
                <a:spcPct val="115000"/>
              </a:lnSpc>
              <a:spcBef>
                <a:spcPts val="0"/>
              </a:spcBef>
              <a:spcAft>
                <a:spcPts val="0"/>
              </a:spcAft>
              <a:buClr>
                <a:schemeClr val="dk1"/>
              </a:buClr>
              <a:buSzPts val="3200"/>
              <a:buFont typeface="Golos Text" panose="020B0503020202020204"/>
              <a:buNone/>
              <a:defRPr sz="3200" b="1">
                <a:solidFill>
                  <a:schemeClr val="dk1"/>
                </a:solidFill>
                <a:latin typeface="Golos Text" panose="020B0503020202020204"/>
                <a:ea typeface="Golos Text" panose="020B0503020202020204"/>
                <a:cs typeface="Golos Text" panose="020B0503020202020204"/>
                <a:sym typeface="Golos Text" panose="020B0503020202020204"/>
              </a:defRPr>
            </a:lvl5pPr>
            <a:lvl6pPr lvl="5" rtl="0">
              <a:lnSpc>
                <a:spcPct val="115000"/>
              </a:lnSpc>
              <a:spcBef>
                <a:spcPts val="0"/>
              </a:spcBef>
              <a:spcAft>
                <a:spcPts val="0"/>
              </a:spcAft>
              <a:buClr>
                <a:schemeClr val="dk1"/>
              </a:buClr>
              <a:buSzPts val="3200"/>
              <a:buFont typeface="Golos Text" panose="020B0503020202020204"/>
              <a:buNone/>
              <a:defRPr sz="3200" b="1">
                <a:solidFill>
                  <a:schemeClr val="dk1"/>
                </a:solidFill>
                <a:latin typeface="Golos Text" panose="020B0503020202020204"/>
                <a:ea typeface="Golos Text" panose="020B0503020202020204"/>
                <a:cs typeface="Golos Text" panose="020B0503020202020204"/>
                <a:sym typeface="Golos Text" panose="020B0503020202020204"/>
              </a:defRPr>
            </a:lvl6pPr>
            <a:lvl7pPr lvl="6" rtl="0">
              <a:lnSpc>
                <a:spcPct val="115000"/>
              </a:lnSpc>
              <a:spcBef>
                <a:spcPts val="0"/>
              </a:spcBef>
              <a:spcAft>
                <a:spcPts val="0"/>
              </a:spcAft>
              <a:buClr>
                <a:schemeClr val="dk1"/>
              </a:buClr>
              <a:buSzPts val="3200"/>
              <a:buFont typeface="Golos Text" panose="020B0503020202020204"/>
              <a:buNone/>
              <a:defRPr sz="3200" b="1">
                <a:solidFill>
                  <a:schemeClr val="dk1"/>
                </a:solidFill>
                <a:latin typeface="Golos Text" panose="020B0503020202020204"/>
                <a:ea typeface="Golos Text" panose="020B0503020202020204"/>
                <a:cs typeface="Golos Text" panose="020B0503020202020204"/>
                <a:sym typeface="Golos Text" panose="020B0503020202020204"/>
              </a:defRPr>
            </a:lvl7pPr>
            <a:lvl8pPr lvl="7" rtl="0">
              <a:lnSpc>
                <a:spcPct val="115000"/>
              </a:lnSpc>
              <a:spcBef>
                <a:spcPts val="0"/>
              </a:spcBef>
              <a:spcAft>
                <a:spcPts val="0"/>
              </a:spcAft>
              <a:buClr>
                <a:schemeClr val="dk1"/>
              </a:buClr>
              <a:buSzPts val="3200"/>
              <a:buFont typeface="Golos Text" panose="020B0503020202020204"/>
              <a:buNone/>
              <a:defRPr sz="3200" b="1">
                <a:solidFill>
                  <a:schemeClr val="dk1"/>
                </a:solidFill>
                <a:latin typeface="Golos Text" panose="020B0503020202020204"/>
                <a:ea typeface="Golos Text" panose="020B0503020202020204"/>
                <a:cs typeface="Golos Text" panose="020B0503020202020204"/>
                <a:sym typeface="Golos Text" panose="020B0503020202020204"/>
              </a:defRPr>
            </a:lvl8pPr>
            <a:lvl9pPr lvl="8" rtl="0">
              <a:lnSpc>
                <a:spcPct val="115000"/>
              </a:lnSpc>
              <a:spcBef>
                <a:spcPts val="0"/>
              </a:spcBef>
              <a:spcAft>
                <a:spcPts val="0"/>
              </a:spcAft>
              <a:buClr>
                <a:schemeClr val="dk1"/>
              </a:buClr>
              <a:buSzPts val="3200"/>
              <a:buFont typeface="Golos Text" panose="020B0503020202020204"/>
              <a:buNone/>
              <a:defRPr sz="3200" b="1">
                <a:solidFill>
                  <a:schemeClr val="dk1"/>
                </a:solidFill>
                <a:latin typeface="Golos Text" panose="020B0503020202020204"/>
                <a:ea typeface="Golos Text" panose="020B0503020202020204"/>
                <a:cs typeface="Golos Text" panose="020B0503020202020204"/>
                <a:sym typeface="Golos Text" panose="020B0503020202020204"/>
              </a:defRPr>
            </a:lvl9pPr>
          </a:lstStyle>
          <a:p/>
        </p:txBody>
      </p:sp>
      <p:sp>
        <p:nvSpPr>
          <p:cNvPr id="53" name="Google Shape;53;p13"/>
          <p:cNvSpPr txBox="1">
            <a:spLocks noGrp="1"/>
          </p:cNvSpPr>
          <p:nvPr>
            <p:ph type="title" idx="3" hasCustomPrompt="1"/>
          </p:nvPr>
        </p:nvSpPr>
        <p:spPr>
          <a:xfrm>
            <a:off x="715100" y="2224908"/>
            <a:ext cx="13356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000" b="0">
                <a:solidFill>
                  <a:schemeClr val="accent3"/>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a:spLocks noGrp="1"/>
          </p:cNvSpPr>
          <p:nvPr>
            <p:ph type="subTitle" idx="4"/>
          </p:nvPr>
        </p:nvSpPr>
        <p:spPr>
          <a:xfrm>
            <a:off x="2050814" y="2224908"/>
            <a:ext cx="63783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Bebas Neue" panose="020B0606020202050201"/>
              <a:buNone/>
              <a:defRPr sz="20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p:txBody>
      </p:sp>
      <p:sp>
        <p:nvSpPr>
          <p:cNvPr id="55" name="Google Shape;55;p13"/>
          <p:cNvSpPr txBox="1">
            <a:spLocks noGrp="1"/>
          </p:cNvSpPr>
          <p:nvPr>
            <p:ph type="title" idx="5" hasCustomPrompt="1"/>
          </p:nvPr>
        </p:nvSpPr>
        <p:spPr>
          <a:xfrm>
            <a:off x="715100" y="2902608"/>
            <a:ext cx="13356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000" b="0">
                <a:solidFill>
                  <a:schemeClr val="accent3"/>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subTitle" idx="6"/>
          </p:nvPr>
        </p:nvSpPr>
        <p:spPr>
          <a:xfrm>
            <a:off x="2050814" y="2902608"/>
            <a:ext cx="63783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Bebas Neue" panose="020B0606020202050201"/>
              <a:buNone/>
              <a:defRPr sz="20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p:txBody>
      </p:sp>
      <p:sp>
        <p:nvSpPr>
          <p:cNvPr id="57" name="Google Shape;57;p13"/>
          <p:cNvSpPr txBox="1">
            <a:spLocks noGrp="1"/>
          </p:cNvSpPr>
          <p:nvPr>
            <p:ph type="title" idx="7" hasCustomPrompt="1"/>
          </p:nvPr>
        </p:nvSpPr>
        <p:spPr>
          <a:xfrm>
            <a:off x="715100" y="3580308"/>
            <a:ext cx="13356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000" b="0">
                <a:solidFill>
                  <a:schemeClr val="accent3"/>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subTitle" idx="8"/>
          </p:nvPr>
        </p:nvSpPr>
        <p:spPr>
          <a:xfrm>
            <a:off x="2050814" y="3580308"/>
            <a:ext cx="6378300" cy="5253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Bebas Neue" panose="020B0606020202050201"/>
              <a:buNone/>
              <a:defRPr sz="20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68"/>
        <p:cNvGrpSpPr/>
        <p:nvPr/>
      </p:nvGrpSpPr>
      <p:grpSpPr>
        <a:xfrm>
          <a:off x="0" y="0"/>
          <a:ext cx="0" cy="0"/>
          <a:chOff x="0" y="0"/>
          <a:chExt cx="0" cy="0"/>
        </a:xfrm>
      </p:grpSpPr>
      <p:pic>
        <p:nvPicPr>
          <p:cNvPr id="69" name="Google Shape;69;p16"/>
          <p:cNvPicPr preferRelativeResize="0"/>
          <p:nvPr/>
        </p:nvPicPr>
        <p:blipFill>
          <a:blip r:embed="rId2">
            <a:alphaModFix amt="67000"/>
          </a:blip>
          <a:stretch>
            <a:fillRect/>
          </a:stretch>
        </p:blipFill>
        <p:spPr>
          <a:xfrm flipH="1">
            <a:off x="0" y="0"/>
            <a:ext cx="9144000" cy="51435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70"/>
        <p:cNvGrpSpPr/>
        <p:nvPr/>
      </p:nvGrpSpPr>
      <p:grpSpPr>
        <a:xfrm>
          <a:off x="0" y="0"/>
          <a:ext cx="0" cy="0"/>
          <a:chOff x="0" y="0"/>
          <a:chExt cx="0" cy="0"/>
        </a:xfrm>
      </p:grpSpPr>
      <p:pic>
        <p:nvPicPr>
          <p:cNvPr id="71" name="Google Shape;71;p17"/>
          <p:cNvPicPr preferRelativeResize="0"/>
          <p:nvPr/>
        </p:nvPicPr>
        <p:blipFill>
          <a:blip r:embed="rId2">
            <a:alphaModFix amt="29000"/>
          </a:blip>
          <a:stretch>
            <a:fillRect/>
          </a:stretch>
        </p:blipFill>
        <p:spPr>
          <a:xfrm flipH="1">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7074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000"/>
              <a:buFont typeface="Golos Text Medium" panose="020B0503020202020204"/>
              <a:buNone/>
              <a:defRPr sz="30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lvl="1"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2pPr>
            <a:lvl3pPr lvl="2"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3pPr>
            <a:lvl4pPr lvl="3"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4pPr>
            <a:lvl5pPr lvl="4"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5pPr>
            <a:lvl6pPr lvl="5"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6pPr>
            <a:lvl7pPr lvl="6"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7pPr>
            <a:lvl8pPr lvl="7"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8pPr>
            <a:lvl9pPr lvl="8" rtl="0">
              <a:lnSpc>
                <a:spcPct val="115000"/>
              </a:lnSpc>
              <a:spcBef>
                <a:spcPts val="0"/>
              </a:spcBef>
              <a:spcAft>
                <a:spcPts val="0"/>
              </a:spcAft>
              <a:buClr>
                <a:schemeClr val="dk1"/>
              </a:buClr>
              <a:buSzPts val="3200"/>
              <a:buFont typeface="Golos Text Medium" panose="020B0503020202020204"/>
              <a:buNone/>
              <a:defRPr sz="3200">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9pPr>
          </a:lstStyle>
          <a:p/>
        </p:txBody>
      </p:sp>
      <p:sp>
        <p:nvSpPr>
          <p:cNvPr id="7" name="Google Shape;7;p1"/>
          <p:cNvSpPr txBox="1">
            <a:spLocks noGrp="1"/>
          </p:cNvSpPr>
          <p:nvPr>
            <p:ph type="body" idx="1"/>
          </p:nvPr>
        </p:nvSpPr>
        <p:spPr>
          <a:xfrm>
            <a:off x="715100" y="1242450"/>
            <a:ext cx="7713900" cy="3366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Golos Text" panose="020B0503020202020204"/>
              <a:buChar char="●"/>
              <a:defRPr>
                <a:solidFill>
                  <a:schemeClr val="dk1"/>
                </a:solidFill>
                <a:latin typeface="Golos Text" panose="020B0503020202020204"/>
                <a:ea typeface="Golos Text" panose="020B0503020202020204"/>
                <a:cs typeface="Golos Text" panose="020B0503020202020204"/>
                <a:sym typeface="Golos Text" panose="020B0503020202020204"/>
              </a:defRPr>
            </a:lvl1pPr>
            <a:lvl2pPr marL="914400" lvl="1" indent="-317500">
              <a:lnSpc>
                <a:spcPct val="115000"/>
              </a:lnSpc>
              <a:spcBef>
                <a:spcPts val="0"/>
              </a:spcBef>
              <a:spcAft>
                <a:spcPts val="0"/>
              </a:spcAft>
              <a:buClr>
                <a:schemeClr val="dk1"/>
              </a:buClr>
              <a:buSzPts val="1400"/>
              <a:buFont typeface="Golos Text" panose="020B0503020202020204"/>
              <a:buChar char="○"/>
              <a:defRPr>
                <a:solidFill>
                  <a:schemeClr val="dk1"/>
                </a:solidFill>
                <a:latin typeface="Golos Text" panose="020B0503020202020204"/>
                <a:ea typeface="Golos Text" panose="020B0503020202020204"/>
                <a:cs typeface="Golos Text" panose="020B0503020202020204"/>
                <a:sym typeface="Golos Text" panose="020B0503020202020204"/>
              </a:defRPr>
            </a:lvl2pPr>
            <a:lvl3pPr marL="1371600" lvl="2" indent="-317500">
              <a:lnSpc>
                <a:spcPct val="115000"/>
              </a:lnSpc>
              <a:spcBef>
                <a:spcPts val="0"/>
              </a:spcBef>
              <a:spcAft>
                <a:spcPts val="0"/>
              </a:spcAft>
              <a:buClr>
                <a:schemeClr val="dk1"/>
              </a:buClr>
              <a:buSzPts val="1400"/>
              <a:buFont typeface="Golos Text" panose="020B0503020202020204"/>
              <a:buChar char="■"/>
              <a:defRPr>
                <a:solidFill>
                  <a:schemeClr val="dk1"/>
                </a:solidFill>
                <a:latin typeface="Golos Text" panose="020B0503020202020204"/>
                <a:ea typeface="Golos Text" panose="020B0503020202020204"/>
                <a:cs typeface="Golos Text" panose="020B0503020202020204"/>
                <a:sym typeface="Golos Text" panose="020B0503020202020204"/>
              </a:defRPr>
            </a:lvl3pPr>
            <a:lvl4pPr marL="1828800" lvl="3" indent="-317500">
              <a:lnSpc>
                <a:spcPct val="115000"/>
              </a:lnSpc>
              <a:spcBef>
                <a:spcPts val="0"/>
              </a:spcBef>
              <a:spcAft>
                <a:spcPts val="0"/>
              </a:spcAft>
              <a:buClr>
                <a:schemeClr val="dk1"/>
              </a:buClr>
              <a:buSzPts val="1400"/>
              <a:buFont typeface="Golos Text" panose="020B0503020202020204"/>
              <a:buChar char="●"/>
              <a:defRPr>
                <a:solidFill>
                  <a:schemeClr val="dk1"/>
                </a:solidFill>
                <a:latin typeface="Golos Text" panose="020B0503020202020204"/>
                <a:ea typeface="Golos Text" panose="020B0503020202020204"/>
                <a:cs typeface="Golos Text" panose="020B0503020202020204"/>
                <a:sym typeface="Golos Text" panose="020B0503020202020204"/>
              </a:defRPr>
            </a:lvl4pPr>
            <a:lvl5pPr marL="2286000" lvl="4" indent="-317500">
              <a:lnSpc>
                <a:spcPct val="115000"/>
              </a:lnSpc>
              <a:spcBef>
                <a:spcPts val="0"/>
              </a:spcBef>
              <a:spcAft>
                <a:spcPts val="0"/>
              </a:spcAft>
              <a:buClr>
                <a:schemeClr val="dk1"/>
              </a:buClr>
              <a:buSzPts val="1400"/>
              <a:buFont typeface="Golos Text" panose="020B0503020202020204"/>
              <a:buChar char="○"/>
              <a:defRPr>
                <a:solidFill>
                  <a:schemeClr val="dk1"/>
                </a:solidFill>
                <a:latin typeface="Golos Text" panose="020B0503020202020204"/>
                <a:ea typeface="Golos Text" panose="020B0503020202020204"/>
                <a:cs typeface="Golos Text" panose="020B0503020202020204"/>
                <a:sym typeface="Golos Text" panose="020B0503020202020204"/>
              </a:defRPr>
            </a:lvl5pPr>
            <a:lvl6pPr marL="2743200" lvl="5" indent="-317500">
              <a:lnSpc>
                <a:spcPct val="115000"/>
              </a:lnSpc>
              <a:spcBef>
                <a:spcPts val="0"/>
              </a:spcBef>
              <a:spcAft>
                <a:spcPts val="0"/>
              </a:spcAft>
              <a:buClr>
                <a:schemeClr val="dk1"/>
              </a:buClr>
              <a:buSzPts val="1400"/>
              <a:buFont typeface="Golos Text" panose="020B0503020202020204"/>
              <a:buChar char="■"/>
              <a:defRPr>
                <a:solidFill>
                  <a:schemeClr val="dk1"/>
                </a:solidFill>
                <a:latin typeface="Golos Text" panose="020B0503020202020204"/>
                <a:ea typeface="Golos Text" panose="020B0503020202020204"/>
                <a:cs typeface="Golos Text" panose="020B0503020202020204"/>
                <a:sym typeface="Golos Text" panose="020B0503020202020204"/>
              </a:defRPr>
            </a:lvl6pPr>
            <a:lvl7pPr marL="3200400" lvl="6" indent="-317500">
              <a:lnSpc>
                <a:spcPct val="115000"/>
              </a:lnSpc>
              <a:spcBef>
                <a:spcPts val="0"/>
              </a:spcBef>
              <a:spcAft>
                <a:spcPts val="0"/>
              </a:spcAft>
              <a:buClr>
                <a:schemeClr val="dk1"/>
              </a:buClr>
              <a:buSzPts val="1400"/>
              <a:buFont typeface="Golos Text" panose="020B0503020202020204"/>
              <a:buChar char="●"/>
              <a:defRPr>
                <a:solidFill>
                  <a:schemeClr val="dk1"/>
                </a:solidFill>
                <a:latin typeface="Golos Text" panose="020B0503020202020204"/>
                <a:ea typeface="Golos Text" panose="020B0503020202020204"/>
                <a:cs typeface="Golos Text" panose="020B0503020202020204"/>
                <a:sym typeface="Golos Text" panose="020B0503020202020204"/>
              </a:defRPr>
            </a:lvl7pPr>
            <a:lvl8pPr marL="3657600" lvl="7" indent="-317500">
              <a:lnSpc>
                <a:spcPct val="115000"/>
              </a:lnSpc>
              <a:spcBef>
                <a:spcPts val="0"/>
              </a:spcBef>
              <a:spcAft>
                <a:spcPts val="0"/>
              </a:spcAft>
              <a:buClr>
                <a:schemeClr val="dk1"/>
              </a:buClr>
              <a:buSzPts val="1400"/>
              <a:buFont typeface="Golos Text" panose="020B0503020202020204"/>
              <a:buChar char="○"/>
              <a:defRPr>
                <a:solidFill>
                  <a:schemeClr val="dk1"/>
                </a:solidFill>
                <a:latin typeface="Golos Text" panose="020B0503020202020204"/>
                <a:ea typeface="Golos Text" panose="020B0503020202020204"/>
                <a:cs typeface="Golos Text" panose="020B0503020202020204"/>
                <a:sym typeface="Golos Text" panose="020B0503020202020204"/>
              </a:defRPr>
            </a:lvl8pPr>
            <a:lvl9pPr marL="4114800" lvl="8" indent="-317500">
              <a:lnSpc>
                <a:spcPct val="115000"/>
              </a:lnSpc>
              <a:spcBef>
                <a:spcPts val="0"/>
              </a:spcBef>
              <a:spcAft>
                <a:spcPts val="0"/>
              </a:spcAft>
              <a:buClr>
                <a:schemeClr val="dk1"/>
              </a:buClr>
              <a:buSzPts val="1400"/>
              <a:buFont typeface="Golos Text" panose="020B0503020202020204"/>
              <a:buChar char="■"/>
              <a:defRPr>
                <a:solidFill>
                  <a:schemeClr val="dk1"/>
                </a:solidFill>
                <a:latin typeface="Golos Text" panose="020B0503020202020204"/>
                <a:ea typeface="Golos Text" panose="020B0503020202020204"/>
                <a:cs typeface="Golos Text" panose="020B0503020202020204"/>
                <a:sym typeface="Golos Text" panose="020B0503020202020204"/>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microsoft.com/office/2007/relationships/hdphoto" Target="../media/image5.wdp"/><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8.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8.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hyperlink" Target="https://www.prisma.io/docs" TargetMode="Externa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14.wdp"/><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21"/>
          <p:cNvSpPr txBox="1">
            <a:spLocks noGrp="1"/>
          </p:cNvSpPr>
          <p:nvPr>
            <p:ph type="ctrTitle"/>
          </p:nvPr>
        </p:nvSpPr>
        <p:spPr>
          <a:xfrm>
            <a:off x="3280858" y="243739"/>
            <a:ext cx="2582282" cy="38664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1800" u="sng" dirty="0">
                <a:latin typeface="Mafra-Medium" panose="02000603000000020004" pitchFamily="2" charset="0"/>
              </a:rPr>
              <a:t>Project Presentation</a:t>
            </a:r>
            <a:endParaRPr sz="1800" u="sng" dirty="0">
              <a:solidFill>
                <a:schemeClr val="accent3"/>
              </a:solidFill>
              <a:latin typeface="Mafra-Medium" panose="02000603000000020004" pitchFamily="2" charset="0"/>
            </a:endParaRPr>
          </a:p>
        </p:txBody>
      </p:sp>
      <p:sp>
        <p:nvSpPr>
          <p:cNvPr id="2" name="Google Shape;82;p21"/>
          <p:cNvSpPr txBox="1"/>
          <p:nvPr/>
        </p:nvSpPr>
        <p:spPr>
          <a:xfrm>
            <a:off x="1366175" y="616526"/>
            <a:ext cx="6411649" cy="38664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5200"/>
              <a:buFont typeface="Golos Text Medium" panose="020B0503020202020204"/>
              <a:buNone/>
              <a:defRPr sz="48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marR="0" lvl="1"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2pPr>
            <a:lvl3pPr marR="0" lvl="2"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3pPr>
            <a:lvl4pPr marR="0" lvl="3"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4pPr>
            <a:lvl5pPr marR="0" lvl="4"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5pPr>
            <a:lvl6pPr marR="0" lvl="5"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6pPr>
            <a:lvl7pPr marR="0" lvl="6"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7pPr>
            <a:lvl8pPr marR="0" lvl="7"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8pPr>
            <a:lvl9pPr marR="0" lvl="8"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9pPr>
          </a:lstStyle>
          <a:p>
            <a:pPr algn="ctr"/>
            <a:r>
              <a:rPr lang="en-US" sz="2400" b="1" dirty="0">
                <a:solidFill>
                  <a:srgbClr val="697BD5"/>
                </a:solidFill>
                <a:latin typeface="Times New Roman" panose="02020603050405020304" pitchFamily="18" charset="0"/>
                <a:cs typeface="Times New Roman" panose="02020603050405020304" pitchFamily="18" charset="0"/>
              </a:rPr>
              <a:t>Topic: AI Powered Resume Analyzer</a:t>
            </a:r>
            <a:endParaRPr lang="en-US" sz="2400" b="1" dirty="0">
              <a:solidFill>
                <a:srgbClr val="697BD5"/>
              </a:solidFill>
              <a:latin typeface="Times New Roman" panose="02020603050405020304" pitchFamily="18" charset="0"/>
              <a:cs typeface="Times New Roman" panose="02020603050405020304" pitchFamily="18" charset="0"/>
            </a:endParaRPr>
          </a:p>
        </p:txBody>
      </p:sp>
      <p:sp>
        <p:nvSpPr>
          <p:cNvPr id="3" name="Google Shape;82;p21"/>
          <p:cNvSpPr txBox="1"/>
          <p:nvPr/>
        </p:nvSpPr>
        <p:spPr>
          <a:xfrm>
            <a:off x="2897243" y="1477810"/>
            <a:ext cx="3274958" cy="15196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5200"/>
              <a:buFont typeface="Golos Text Medium" panose="020B0503020202020204"/>
              <a:buNone/>
              <a:defRPr sz="48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marR="0" lvl="1"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2pPr>
            <a:lvl3pPr marR="0" lvl="2"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3pPr>
            <a:lvl4pPr marR="0" lvl="3"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4pPr>
            <a:lvl5pPr marR="0" lvl="4"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5pPr>
            <a:lvl6pPr marR="0" lvl="5"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6pPr>
            <a:lvl7pPr marR="0" lvl="6"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7pPr>
            <a:lvl8pPr marR="0" lvl="7"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8pPr>
            <a:lvl9pPr marR="0" lvl="8"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9pPr>
          </a:lstStyle>
          <a:p>
            <a:endParaRPr lang="en-US" sz="1400" dirty="0">
              <a:solidFill>
                <a:schemeClr val="bg1">
                  <a:lumMod val="75000"/>
                </a:schemeClr>
              </a:solidFill>
              <a:latin typeface="Roboto" panose="02000000000000000000" pitchFamily="2" charset="0"/>
              <a:ea typeface="Roboto" panose="02000000000000000000" pitchFamily="2" charset="0"/>
              <a:sym typeface="+mn-ea"/>
            </a:endParaRPr>
          </a:p>
          <a:p>
            <a:r>
              <a:rPr lang="en-US" sz="1400" dirty="0">
                <a:solidFill>
                  <a:schemeClr val="bg1">
                    <a:lumMod val="75000"/>
                  </a:schemeClr>
                </a:solidFill>
                <a:latin typeface="Roboto" panose="02000000000000000000" pitchFamily="2" charset="0"/>
                <a:ea typeface="Roboto" panose="02000000000000000000" pitchFamily="2" charset="0"/>
                <a:sym typeface="+mn-ea"/>
              </a:rPr>
              <a:t>Aniruddha Adak	- 27600122030</a:t>
            </a:r>
            <a:endParaRPr lang="en-US" sz="1400" dirty="0">
              <a:solidFill>
                <a:schemeClr val="bg1">
                  <a:lumMod val="75000"/>
                </a:schemeClr>
              </a:solidFill>
              <a:latin typeface="Roboto" panose="02000000000000000000" pitchFamily="2" charset="0"/>
              <a:ea typeface="Roboto" panose="02000000000000000000" pitchFamily="2" charset="0"/>
            </a:endParaRPr>
          </a:p>
          <a:p>
            <a:r>
              <a:rPr lang="en-US" sz="1400" dirty="0">
                <a:solidFill>
                  <a:schemeClr val="bg1">
                    <a:lumMod val="75000"/>
                  </a:schemeClr>
                </a:solidFill>
                <a:latin typeface="Roboto" panose="02000000000000000000" pitchFamily="2" charset="0"/>
                <a:ea typeface="Roboto" panose="02000000000000000000" pitchFamily="2" charset="0"/>
              </a:rPr>
              <a:t>Krishanu Banerjee	- 27600122136</a:t>
            </a:r>
            <a:endParaRPr lang="en-US" sz="1400" dirty="0">
              <a:solidFill>
                <a:schemeClr val="bg1">
                  <a:lumMod val="75000"/>
                </a:schemeClr>
              </a:solidFill>
              <a:latin typeface="Roboto" panose="02000000000000000000" pitchFamily="2" charset="0"/>
              <a:ea typeface="Roboto" panose="02000000000000000000" pitchFamily="2" charset="0"/>
            </a:endParaRPr>
          </a:p>
          <a:p>
            <a:r>
              <a:rPr lang="en-US" sz="1400" dirty="0">
                <a:solidFill>
                  <a:schemeClr val="bg1">
                    <a:lumMod val="75000"/>
                  </a:schemeClr>
                </a:solidFill>
                <a:latin typeface="Roboto" panose="02000000000000000000" pitchFamily="2" charset="0"/>
                <a:ea typeface="Roboto" panose="02000000000000000000" pitchFamily="2" charset="0"/>
                <a:sym typeface="+mn-ea"/>
              </a:rPr>
              <a:t>Sayan Chakraborty	- 27600122180</a:t>
            </a:r>
            <a:endParaRPr lang="en-US" sz="1400" dirty="0">
              <a:solidFill>
                <a:schemeClr val="bg1">
                  <a:lumMod val="75000"/>
                </a:schemeClr>
              </a:solidFill>
              <a:latin typeface="Roboto" panose="02000000000000000000" pitchFamily="2" charset="0"/>
              <a:ea typeface="Roboto" panose="02000000000000000000" pitchFamily="2" charset="0"/>
              <a:sym typeface="+mn-ea"/>
            </a:endParaRPr>
          </a:p>
          <a:p>
            <a:r>
              <a:rPr lang="en-US" sz="1400" dirty="0">
                <a:solidFill>
                  <a:schemeClr val="bg1">
                    <a:lumMod val="75000"/>
                  </a:schemeClr>
                </a:solidFill>
                <a:latin typeface="Roboto" panose="02000000000000000000" pitchFamily="2" charset="0"/>
                <a:ea typeface="Roboto" panose="02000000000000000000" pitchFamily="2" charset="0"/>
              </a:rPr>
              <a:t>Soni Kumari 	- 27600122150</a:t>
            </a:r>
            <a:endParaRPr lang="en-US" sz="1400" dirty="0">
              <a:solidFill>
                <a:schemeClr val="bg1">
                  <a:lumMod val="75000"/>
                </a:schemeClr>
              </a:solidFill>
              <a:latin typeface="Roboto" panose="02000000000000000000" pitchFamily="2" charset="0"/>
              <a:ea typeface="Roboto" panose="02000000000000000000" pitchFamily="2" charset="0"/>
            </a:endParaRPr>
          </a:p>
          <a:p>
            <a:endParaRPr lang="en-US" sz="1400" dirty="0">
              <a:solidFill>
                <a:schemeClr val="bg1">
                  <a:lumMod val="75000"/>
                </a:schemeClr>
              </a:solidFill>
              <a:latin typeface="Roboto" panose="02000000000000000000" pitchFamily="2" charset="0"/>
              <a:ea typeface="Roboto" panose="02000000000000000000" pitchFamily="2" charset="0"/>
            </a:endParaRPr>
          </a:p>
          <a:p>
            <a:endParaRPr lang="en-US" sz="1400" dirty="0">
              <a:solidFill>
                <a:schemeClr val="bg1">
                  <a:lumMod val="75000"/>
                </a:schemeClr>
              </a:solidFill>
              <a:latin typeface="Roboto" panose="02000000000000000000" pitchFamily="2" charset="0"/>
              <a:ea typeface="Roboto" panose="02000000000000000000" pitchFamily="2" charset="0"/>
            </a:endParaRPr>
          </a:p>
        </p:txBody>
      </p:sp>
      <p:sp>
        <p:nvSpPr>
          <p:cNvPr id="4" name="Google Shape;82;p21"/>
          <p:cNvSpPr txBox="1"/>
          <p:nvPr/>
        </p:nvSpPr>
        <p:spPr>
          <a:xfrm>
            <a:off x="1989717" y="1178120"/>
            <a:ext cx="2582282" cy="38664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5200"/>
              <a:buFont typeface="Golos Text Medium" panose="020B0503020202020204"/>
              <a:buNone/>
              <a:defRPr sz="48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marR="0" lvl="1"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2pPr>
            <a:lvl3pPr marR="0" lvl="2"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3pPr>
            <a:lvl4pPr marR="0" lvl="3"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4pPr>
            <a:lvl5pPr marR="0" lvl="4"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5pPr>
            <a:lvl6pPr marR="0" lvl="5"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6pPr>
            <a:lvl7pPr marR="0" lvl="6"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7pPr>
            <a:lvl8pPr marR="0" lvl="7"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8pPr>
            <a:lvl9pPr marR="0" lvl="8"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9pPr>
          </a:lstStyle>
          <a:p>
            <a:pPr algn="ctr"/>
            <a:r>
              <a:rPr lang="en-US" sz="2000" b="1" dirty="0">
                <a:solidFill>
                  <a:schemeClr val="tx2">
                    <a:lumMod val="25000"/>
                  </a:schemeClr>
                </a:solidFill>
                <a:latin typeface="Times New Roman" panose="02020603050405020304" pitchFamily="18" charset="0"/>
                <a:cs typeface="Times New Roman" panose="02020603050405020304" pitchFamily="18" charset="0"/>
              </a:rPr>
              <a:t>Presented By:</a:t>
            </a:r>
            <a:endParaRPr lang="en-US" sz="2000" b="1" dirty="0">
              <a:solidFill>
                <a:schemeClr val="tx2">
                  <a:lumMod val="25000"/>
                </a:schemeClr>
              </a:solidFill>
              <a:latin typeface="Times New Roman" panose="02020603050405020304" pitchFamily="18" charset="0"/>
              <a:cs typeface="Times New Roman" panose="02020603050405020304" pitchFamily="18" charset="0"/>
            </a:endParaRPr>
          </a:p>
        </p:txBody>
      </p:sp>
      <p:sp>
        <p:nvSpPr>
          <p:cNvPr id="5" name="Google Shape;82;p21"/>
          <p:cNvSpPr txBox="1"/>
          <p:nvPr/>
        </p:nvSpPr>
        <p:spPr>
          <a:xfrm>
            <a:off x="2717000" y="3006814"/>
            <a:ext cx="3701832" cy="38664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5200"/>
              <a:buFont typeface="Golos Text Medium" panose="020B0503020202020204"/>
              <a:buNone/>
              <a:defRPr sz="48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1pPr>
            <a:lvl2pPr marR="0" lvl="1"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2pPr>
            <a:lvl3pPr marR="0" lvl="2"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3pPr>
            <a:lvl4pPr marR="0" lvl="3"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4pPr>
            <a:lvl5pPr marR="0" lvl="4"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5pPr>
            <a:lvl6pPr marR="0" lvl="5"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6pPr>
            <a:lvl7pPr marR="0" lvl="6"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7pPr>
            <a:lvl8pPr marR="0" lvl="7"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8pPr>
            <a:lvl9pPr marR="0" lvl="8" algn="ctr" rtl="0">
              <a:lnSpc>
                <a:spcPct val="115000"/>
              </a:lnSpc>
              <a:spcBef>
                <a:spcPts val="0"/>
              </a:spcBef>
              <a:spcAft>
                <a:spcPts val="0"/>
              </a:spcAft>
              <a:buClr>
                <a:schemeClr val="dk1"/>
              </a:buClr>
              <a:buSzPts val="5200"/>
              <a:buFont typeface="Golos Text Medium" panose="020B0503020202020204"/>
              <a:buNone/>
              <a:defRPr sz="5200" b="0" i="0" u="none" strike="noStrike" cap="none">
                <a:solidFill>
                  <a:schemeClr val="dk1"/>
                </a:solidFill>
                <a:latin typeface="Golos Text Medium" panose="020B0503020202020204"/>
                <a:ea typeface="Golos Text Medium" panose="020B0503020202020204"/>
                <a:cs typeface="Golos Text Medium" panose="020B0503020202020204"/>
                <a:sym typeface="Golos Text Medium" panose="020B0503020202020204"/>
              </a:defRPr>
            </a:lvl9pPr>
          </a:lstStyle>
          <a:p>
            <a:pPr algn="ctr"/>
            <a:r>
              <a:rPr lang="en-US" sz="1800" b="1" dirty="0">
                <a:solidFill>
                  <a:srgbClr val="697BD5"/>
                </a:solidFill>
                <a:latin typeface="Times New Roman" panose="02020603050405020304" pitchFamily="18" charset="0"/>
                <a:cs typeface="Times New Roman" panose="02020603050405020304" pitchFamily="18" charset="0"/>
              </a:rPr>
              <a:t>Supervisor: Mrs. Nivedita Das</a:t>
            </a:r>
            <a:endParaRPr lang="en-US" sz="1800" b="1" dirty="0">
              <a:solidFill>
                <a:srgbClr val="697BD5"/>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2226237" y="3520357"/>
            <a:ext cx="4283545" cy="307777"/>
          </a:xfrm>
          <a:prstGeom prst="rect">
            <a:avLst/>
          </a:prstGeom>
          <a:noFill/>
        </p:spPr>
        <p:txBody>
          <a:bodyPr wrap="none" rtlCol="0">
            <a:spAutoFit/>
          </a:bodyPr>
          <a:lstStyle/>
          <a:p>
            <a:r>
              <a:rPr lang="en-US" b="1" dirty="0">
                <a:solidFill>
                  <a:srgbClr val="717997"/>
                </a:solidFill>
                <a:latin typeface="Segoe UI Semibold" panose="020B0702040204020203" pitchFamily="34" charset="0"/>
                <a:ea typeface="Inter" panose="020B0502030000000004" pitchFamily="34" charset="0"/>
                <a:cs typeface="Segoe UI Semibold" panose="020B0702040204020203" pitchFamily="34" charset="0"/>
              </a:rPr>
              <a:t>Department of Computer Science and Engineering</a:t>
            </a:r>
            <a:endParaRPr lang="en-US" b="1" dirty="0">
              <a:solidFill>
                <a:srgbClr val="717997"/>
              </a:solidFill>
              <a:latin typeface="Segoe UI Semibold" panose="020B0702040204020203" pitchFamily="34" charset="0"/>
              <a:ea typeface="Inter" panose="020B0502030000000004" pitchFamily="34" charset="0"/>
              <a:cs typeface="Segoe UI Semibold" panose="020B0702040204020203" pitchFamily="34" charset="0"/>
            </a:endParaRPr>
          </a:p>
        </p:txBody>
      </p:sp>
      <p:pic>
        <p:nvPicPr>
          <p:cNvPr id="8" name="Picture 7"/>
          <p:cNvPicPr>
            <a:picLocks noChangeAspect="1"/>
          </p:cNvPicPr>
          <p:nvPr/>
        </p:nvPicPr>
        <p:blipFill>
          <a:blip r:embed="rId1">
            <a:extLst>
              <a:ext uri="{BEBA8EAE-BF5A-486C-A8C5-ECC9F3942E4B}">
                <a14:imgProps xmlns:a14="http://schemas.microsoft.com/office/drawing/2010/main">
                  <a14:imgLayer r:embed="rId2">
                    <a14:imgEffect>
                      <a14:brightnessContrast bright="40000" contrast="-40000"/>
                    </a14:imgEffect>
                  </a14:imgLayer>
                </a14:imgProps>
              </a:ext>
            </a:extLst>
          </a:blip>
          <a:stretch>
            <a:fillRect/>
          </a:stretch>
        </p:blipFill>
        <p:spPr>
          <a:xfrm>
            <a:off x="4171299" y="3846771"/>
            <a:ext cx="801399" cy="801399"/>
          </a:xfrm>
          <a:prstGeom prst="rect">
            <a:avLst/>
          </a:prstGeom>
        </p:spPr>
      </p:pic>
      <p:sp>
        <p:nvSpPr>
          <p:cNvPr id="9" name="TextBox 8"/>
          <p:cNvSpPr txBox="1"/>
          <p:nvPr/>
        </p:nvSpPr>
        <p:spPr>
          <a:xfrm>
            <a:off x="2515111" y="4570588"/>
            <a:ext cx="4105611" cy="307777"/>
          </a:xfrm>
          <a:prstGeom prst="rect">
            <a:avLst/>
          </a:prstGeom>
          <a:noFill/>
        </p:spPr>
        <p:txBody>
          <a:bodyPr wrap="none" rtlCol="0">
            <a:spAutoFit/>
          </a:bodyPr>
          <a:lstStyle/>
          <a:p>
            <a:r>
              <a:rPr lang="en-US" b="1" dirty="0">
                <a:solidFill>
                  <a:srgbClr val="697BD5"/>
                </a:solidFill>
                <a:highlight>
                  <a:srgbClr val="00FFFF"/>
                </a:highlight>
              </a:rPr>
              <a:t>Budge Budge Institute of Technology, Kolkata</a:t>
            </a:r>
            <a:endParaRPr lang="en-US" b="1" dirty="0">
              <a:solidFill>
                <a:srgbClr val="697BD5"/>
              </a:solidFill>
              <a:highlight>
                <a:srgbClr val="00FFFF"/>
              </a:highlight>
            </a:endParaRPr>
          </a:p>
        </p:txBody>
      </p:sp>
      <p:sp>
        <p:nvSpPr>
          <p:cNvPr id="10" name="TextBox 9"/>
          <p:cNvSpPr txBox="1"/>
          <p:nvPr/>
        </p:nvSpPr>
        <p:spPr>
          <a:xfrm>
            <a:off x="3967431" y="4827176"/>
            <a:ext cx="1043940" cy="275590"/>
          </a:xfrm>
          <a:prstGeom prst="rect">
            <a:avLst/>
          </a:prstGeom>
          <a:noFill/>
        </p:spPr>
        <p:txBody>
          <a:bodyPr wrap="none" rtlCol="0">
            <a:spAutoFit/>
          </a:bodyPr>
          <a:lstStyle/>
          <a:p>
            <a:r>
              <a:rPr lang="en-US" sz="1200" b="1" dirty="0">
                <a:solidFill>
                  <a:srgbClr val="717997"/>
                </a:solidFill>
                <a:latin typeface="Roboto" panose="02000000000000000000" pitchFamily="2" charset="0"/>
                <a:ea typeface="Roboto" panose="02000000000000000000" pitchFamily="2" charset="0"/>
              </a:rPr>
              <a:t>March, 2026</a:t>
            </a:r>
            <a:endParaRPr lang="en-US" sz="1200" b="1" dirty="0">
              <a:solidFill>
                <a:srgbClr val="717997"/>
              </a:solidFill>
              <a:latin typeface="Roboto" panose="02000000000000000000" pitchFamily="2" charset="0"/>
              <a:ea typeface="Roboto" panose="02000000000000000000" pitchFamily="2" charset="0"/>
            </a:endParaRPr>
          </a:p>
        </p:txBody>
      </p:sp>
      <p:cxnSp>
        <p:nvCxnSpPr>
          <p:cNvPr id="12" name="Straight Connector 11"/>
          <p:cNvCxnSpPr/>
          <p:nvPr/>
        </p:nvCxnSpPr>
        <p:spPr>
          <a:xfrm>
            <a:off x="2717000" y="2500745"/>
            <a:ext cx="0" cy="506069"/>
          </a:xfrm>
          <a:prstGeom prst="line">
            <a:avLst/>
          </a:prstGeom>
          <a:ln w="28575">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634761" y="2931451"/>
            <a:ext cx="524963" cy="0"/>
          </a:xfrm>
          <a:prstGeom prst="line">
            <a:avLst/>
          </a:prstGeom>
          <a:ln w="28575">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758961" y="1559051"/>
            <a:ext cx="524963" cy="0"/>
          </a:xfrm>
          <a:prstGeom prst="line">
            <a:avLst/>
          </a:prstGeom>
          <a:ln w="28575">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201419" y="1477810"/>
            <a:ext cx="0" cy="506069"/>
          </a:xfrm>
          <a:prstGeom prst="line">
            <a:avLst/>
          </a:prstGeom>
          <a:ln w="28575">
            <a:solidFill>
              <a:schemeClr val="tx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1</a:t>
            </a:r>
            <a:endParaRPr lang="en-US" sz="800" b="1" spc="30" dirty="0">
              <a:solidFill>
                <a:schemeClr val="tx1">
                  <a:lumMod val="60000"/>
                  <a:lumOff val="40000"/>
                </a:schemeClr>
              </a:solidFill>
              <a:latin typeface="Trebuchet MS" panose="020B0603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 name="Google Shape;281;p25"/>
          <p:cNvSpPr txBox="1">
            <a:spLocks noGrp="1"/>
          </p:cNvSpPr>
          <p:nvPr>
            <p:ph type="title"/>
          </p:nvPr>
        </p:nvSpPr>
        <p:spPr>
          <a:xfrm>
            <a:off x="444936" y="307868"/>
            <a:ext cx="5526373" cy="712384"/>
          </a:xfrm>
          <a:prstGeom prst="rect">
            <a:avLst/>
          </a:prstGeom>
        </p:spPr>
        <p:txBody>
          <a:bodyPr spcFirstLastPara="1" wrap="square" lIns="91425" tIns="91425" rIns="91425" bIns="91425" anchor="t" anchorCtr="0">
            <a:noAutofit/>
          </a:bodyPr>
          <a:lstStyle/>
          <a:p>
            <a:pPr marL="0" indent="0" algn="l">
              <a:lnSpc>
                <a:spcPct val="100000"/>
              </a:lnSpc>
              <a:buNone/>
            </a:pPr>
            <a:r>
              <a:rPr lang="en-US" sz="2800" b="1" u="sng" dirty="0">
                <a:solidFill>
                  <a:srgbClr val="3257B8"/>
                </a:solidFill>
                <a:latin typeface="Roboto Slab" pitchFamily="34" charset="0"/>
                <a:ea typeface="Roboto Slab" pitchFamily="34" charset="-122"/>
                <a:cs typeface="Roboto Slab" pitchFamily="34" charset="-120"/>
              </a:rPr>
              <a:t>OBJECTIVE</a:t>
            </a:r>
            <a:r>
              <a:rPr lang="en-US" sz="3200" dirty="0">
                <a:solidFill>
                  <a:srgbClr val="3257B8"/>
                </a:solidFill>
                <a:latin typeface="Roboto Slab" pitchFamily="34" charset="0"/>
                <a:ea typeface="Roboto Slab" pitchFamily="34" charset="-122"/>
                <a:cs typeface="Roboto Slab" pitchFamily="34" charset="-120"/>
              </a:rPr>
              <a:t>:</a:t>
            </a:r>
            <a:endParaRPr lang="en-US" sz="3200" dirty="0"/>
          </a:p>
        </p:txBody>
      </p:sp>
      <p:sp>
        <p:nvSpPr>
          <p:cNvPr id="2" name="TextBox 1"/>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2</a:t>
            </a:r>
            <a:endParaRPr lang="en-US" sz="800" b="1" spc="30" dirty="0">
              <a:solidFill>
                <a:schemeClr val="tx1">
                  <a:lumMod val="60000"/>
                  <a:lumOff val="40000"/>
                </a:schemeClr>
              </a:solidFill>
              <a:latin typeface="Trebuchet MS" panose="020B0603020202020204" charset="0"/>
            </a:endParaRPr>
          </a:p>
        </p:txBody>
      </p:sp>
      <p:sp>
        <p:nvSpPr>
          <p:cNvPr id="3" name="TextBox 2"/>
          <p:cNvSpPr txBox="1"/>
          <p:nvPr/>
        </p:nvSpPr>
        <p:spPr>
          <a:xfrm>
            <a:off x="635436" y="1020252"/>
            <a:ext cx="7258884" cy="2891790"/>
          </a:xfrm>
          <a:prstGeom prst="rect">
            <a:avLst/>
          </a:prstGeom>
          <a:noFill/>
        </p:spPr>
        <p:txBody>
          <a:bodyPr wrap="square" rtlCol="0">
            <a:spAutoFit/>
          </a:bodyPr>
          <a:lstStyle/>
          <a:p>
            <a:pPr marL="285750" indent="-285750">
              <a:buFont typeface="Wingdings" panose="05000000000000000000" pitchFamily="2" charset="2"/>
              <a:buChar char="§"/>
            </a:pPr>
            <a:endParaRPr lang="en-US" b="1" dirty="0">
              <a:solidFill>
                <a:srgbClr val="697BD5"/>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
            </a:pPr>
            <a:r>
              <a:rPr lang="en-US" b="1" dirty="0">
                <a:solidFill>
                  <a:srgbClr val="697BD5"/>
                </a:solidFill>
                <a:latin typeface="Roboto Slab" pitchFamily="34" charset="0"/>
                <a:ea typeface="Roboto Slab" pitchFamily="34" charset="0"/>
                <a:cs typeface="Roboto Slab" pitchFamily="34" charset="0"/>
              </a:rPr>
              <a:t>Primary Goal: </a:t>
            </a:r>
            <a:r>
              <a:rPr lang="en-US" dirty="0">
                <a:solidFill>
                  <a:srgbClr val="717997"/>
                </a:solidFill>
                <a:latin typeface="Roboto Slab" pitchFamily="34" charset="0"/>
                <a:ea typeface="Roboto Slab" pitchFamily="34" charset="0"/>
                <a:cs typeface="Roboto Slab" pitchFamily="34" charset="0"/>
              </a:rPr>
              <a:t>To bridge the gap between job seekers and their dream roles using generative AI.</a:t>
            </a:r>
            <a:endParaRPr lang="en-US" dirty="0">
              <a:solidFill>
                <a:srgbClr val="717997"/>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
            </a:pPr>
            <a:endParaRPr lang="en-US" dirty="0">
              <a:solidFill>
                <a:srgbClr val="717997"/>
              </a:solidFill>
            </a:endParaRPr>
          </a:p>
          <a:p>
            <a:pPr marL="285750" indent="-285750">
              <a:buFont typeface="Wingdings" panose="05000000000000000000" pitchFamily="2" charset="2"/>
              <a:buChar char="§"/>
            </a:pPr>
            <a:r>
              <a:rPr lang="en-US" altLang="en-GB" b="1" dirty="0">
                <a:solidFill>
                  <a:srgbClr val="697BD5"/>
                </a:solidFill>
                <a:latin typeface="Roboto" panose="02000000000000000000" pitchFamily="2" charset="0"/>
                <a:ea typeface="Roboto" panose="02000000000000000000" pitchFamily="2" charset="0"/>
                <a:cs typeface="Roboto Slab" pitchFamily="34" charset="0"/>
              </a:rPr>
              <a:t>Improve Resume Quality:</a:t>
            </a:r>
            <a:r>
              <a:rPr lang="en-US" b="1" dirty="0">
                <a:solidFill>
                  <a:srgbClr val="697BD5"/>
                </a:solidFill>
                <a:latin typeface="Roboto" panose="02000000000000000000" pitchFamily="2" charset="0"/>
                <a:ea typeface="Roboto" panose="02000000000000000000" pitchFamily="2" charset="0"/>
                <a:cs typeface="Roboto Slab" pitchFamily="34" charset="0"/>
              </a:rPr>
              <a:t> </a:t>
            </a:r>
            <a:r>
              <a:rPr lang="en-US" altLang="en-GB" dirty="0">
                <a:solidFill>
                  <a:srgbClr val="717997"/>
                </a:solidFill>
                <a:latin typeface="Roboto" panose="02000000000000000000" pitchFamily="2" charset="0"/>
                <a:ea typeface="Roboto" panose="02000000000000000000" pitchFamily="2" charset="0"/>
              </a:rPr>
              <a:t>Generate actionable suggestions to enhance resume structure, keywords, formatting, and relevance for better job matching and ATS compatibility.</a:t>
            </a:r>
            <a:endParaRPr lang="en-US" altLang="en-GB" dirty="0">
              <a:solidFill>
                <a:srgbClr val="717997"/>
              </a:solidFill>
              <a:latin typeface="Roboto" panose="02000000000000000000" pitchFamily="2" charset="0"/>
              <a:ea typeface="Roboto" panose="02000000000000000000" pitchFamily="2" charset="0"/>
            </a:endParaRP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altLang="en-GB" b="1" dirty="0">
                <a:solidFill>
                  <a:srgbClr val="697BD5"/>
                </a:solidFill>
                <a:latin typeface="Roboto Slab" pitchFamily="34" charset="0"/>
                <a:ea typeface="Roboto Slab" pitchFamily="34" charset="0"/>
                <a:cs typeface="Roboto Slab" pitchFamily="34" charset="0"/>
              </a:rPr>
              <a:t>Provide Personalized Career Guidance</a:t>
            </a:r>
            <a:r>
              <a:rPr lang="en-US" b="1" dirty="0">
                <a:solidFill>
                  <a:srgbClr val="697BD5"/>
                </a:solidFill>
                <a:latin typeface="Roboto Slab" pitchFamily="34" charset="0"/>
                <a:ea typeface="Roboto Slab" pitchFamily="34" charset="0"/>
                <a:cs typeface="Roboto Slab" pitchFamily="34" charset="0"/>
              </a:rPr>
              <a:t>: </a:t>
            </a:r>
            <a:r>
              <a:rPr lang="en-US" altLang="en-GB" dirty="0">
                <a:solidFill>
                  <a:srgbClr val="717997"/>
                </a:solidFill>
                <a:latin typeface="Roboto" panose="02000000000000000000" pitchFamily="2" charset="0"/>
                <a:ea typeface="Roboto" panose="02000000000000000000" pitchFamily="2" charset="0"/>
              </a:rPr>
              <a:t>Offer tailored career recommendations, including suitable job roles, skill improvements, and learning paths based on the user's resume</a:t>
            </a:r>
            <a:r>
              <a:rPr lang="en-US" dirty="0">
                <a:solidFill>
                  <a:srgbClr val="717997"/>
                </a:solidFill>
                <a:latin typeface="Roboto" panose="02000000000000000000" pitchFamily="2" charset="0"/>
                <a:ea typeface="Roboto" panose="02000000000000000000" pitchFamily="2" charset="0"/>
              </a:rPr>
              <a:t>.</a:t>
            </a:r>
            <a:endParaRPr lang="en-US" dirty="0">
              <a:solidFill>
                <a:srgbClr val="717997"/>
              </a:solidFill>
              <a:latin typeface="Roboto" panose="02000000000000000000" pitchFamily="2" charset="0"/>
              <a:ea typeface="Roboto" panose="02000000000000000000" pitchFamily="2" charset="0"/>
            </a:endParaRPr>
          </a:p>
          <a:p>
            <a:pPr marL="285750" indent="-285750">
              <a:buFont typeface="Wingdings" panose="05000000000000000000" pitchFamily="2" charset="2"/>
              <a:buChar char="§"/>
            </a:pPr>
            <a:endParaRPr lang="en-US" dirty="0"/>
          </a:p>
          <a:p>
            <a:pPr marL="0" indent="0">
              <a:buFont typeface="Wingdings" panose="05000000000000000000" pitchFamily="2" charset="2"/>
              <a:buNone/>
            </a:pPr>
            <a:endParaRPr lang="en-US" dirty="0">
              <a:solidFill>
                <a:srgbClr val="717997"/>
              </a:solidFill>
              <a:latin typeface="Roboto" panose="02000000000000000000" pitchFamily="2" charset="0"/>
              <a:ea typeface="Roboto" panose="020000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 name="Google Shape;281;p25"/>
          <p:cNvSpPr txBox="1">
            <a:spLocks noGrp="1"/>
          </p:cNvSpPr>
          <p:nvPr>
            <p:ph type="title"/>
          </p:nvPr>
        </p:nvSpPr>
        <p:spPr>
          <a:xfrm>
            <a:off x="444936" y="307868"/>
            <a:ext cx="5526373" cy="712384"/>
          </a:xfrm>
          <a:prstGeom prst="rect">
            <a:avLst/>
          </a:prstGeom>
        </p:spPr>
        <p:txBody>
          <a:bodyPr spcFirstLastPara="1" wrap="square" lIns="91425" tIns="91425" rIns="91425" bIns="91425" anchor="t" anchorCtr="0">
            <a:noAutofit/>
          </a:bodyPr>
          <a:lstStyle/>
          <a:p>
            <a:pPr marL="0" indent="0" algn="l">
              <a:lnSpc>
                <a:spcPct val="100000"/>
              </a:lnSpc>
              <a:buNone/>
            </a:pPr>
            <a:r>
              <a:rPr lang="en-US" sz="2800" b="1" u="sng" dirty="0">
                <a:solidFill>
                  <a:srgbClr val="3257B8"/>
                </a:solidFill>
                <a:latin typeface="Roboto Slab" pitchFamily="34" charset="0"/>
                <a:ea typeface="Roboto Slab" pitchFamily="34" charset="-122"/>
                <a:cs typeface="Roboto Slab" pitchFamily="34" charset="-120"/>
              </a:rPr>
              <a:t>ABSTRACT</a:t>
            </a:r>
            <a:r>
              <a:rPr lang="en-US" sz="2800" b="1" dirty="0">
                <a:solidFill>
                  <a:srgbClr val="3257B8"/>
                </a:solidFill>
                <a:latin typeface="Roboto Slab" pitchFamily="34" charset="0"/>
                <a:ea typeface="Roboto Slab" pitchFamily="34" charset="-122"/>
                <a:cs typeface="Roboto Slab" pitchFamily="34" charset="-120"/>
              </a:rPr>
              <a:t>:</a:t>
            </a:r>
            <a:endParaRPr lang="en-US" sz="3200" dirty="0"/>
          </a:p>
        </p:txBody>
      </p:sp>
      <p:sp>
        <p:nvSpPr>
          <p:cNvPr id="2" name="TextBox 1"/>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3</a:t>
            </a:r>
            <a:endParaRPr lang="en-US" sz="800" b="1" spc="30" dirty="0">
              <a:solidFill>
                <a:schemeClr val="tx1">
                  <a:lumMod val="60000"/>
                  <a:lumOff val="40000"/>
                </a:schemeClr>
              </a:solidFill>
              <a:latin typeface="Trebuchet MS" panose="020B0603020202020204" charset="0"/>
            </a:endParaRPr>
          </a:p>
        </p:txBody>
      </p:sp>
      <p:sp>
        <p:nvSpPr>
          <p:cNvPr id="4" name="TextBox 3"/>
          <p:cNvSpPr txBox="1"/>
          <p:nvPr/>
        </p:nvSpPr>
        <p:spPr>
          <a:xfrm>
            <a:off x="556260" y="1020252"/>
            <a:ext cx="7475220" cy="2461260"/>
          </a:xfrm>
          <a:prstGeom prst="rect">
            <a:avLst/>
          </a:prstGeom>
          <a:noFill/>
        </p:spPr>
        <p:txBody>
          <a:bodyPr wrap="square" rtlCol="0">
            <a:spAutoFit/>
          </a:bodyPr>
          <a:lstStyle/>
          <a:p>
            <a:pPr marL="285750" indent="-285750">
              <a:buFont typeface="Wingdings" panose="05000000000000000000" pitchFamily="2" charset="2"/>
              <a:buChar char="ü"/>
            </a:pPr>
            <a:r>
              <a:rPr lang="en-US" b="1" dirty="0">
                <a:solidFill>
                  <a:srgbClr val="697BD5"/>
                </a:solidFill>
                <a:latin typeface="Roboto Slab" pitchFamily="34" charset="0"/>
                <a:ea typeface="Roboto Slab" pitchFamily="34" charset="0"/>
                <a:cs typeface="Roboto Slab" pitchFamily="34" charset="0"/>
              </a:rPr>
              <a:t>Platform Overview: </a:t>
            </a:r>
            <a:r>
              <a:rPr lang="en-US" dirty="0">
                <a:solidFill>
                  <a:srgbClr val="717997"/>
                </a:solidFill>
                <a:latin typeface="Roboto" panose="02000000000000000000" pitchFamily="2" charset="0"/>
                <a:ea typeface="Roboto" panose="02000000000000000000" pitchFamily="2" charset="0"/>
              </a:rPr>
              <a:t>A full-stack web application combining a responsive Next.js frontend and backend.</a:t>
            </a:r>
            <a:endParaRPr lang="en-US" dirty="0">
              <a:solidFill>
                <a:srgbClr val="717997"/>
              </a:solidFill>
              <a:latin typeface="Roboto" panose="02000000000000000000" pitchFamily="2" charset="0"/>
              <a:ea typeface="Roboto" panose="02000000000000000000" pitchFamily="2" charset="0"/>
            </a:endParaRPr>
          </a:p>
          <a:p>
            <a:endParaRPr lang="en-US" dirty="0">
              <a:latin typeface="Roboto" panose="02000000000000000000" pitchFamily="2" charset="0"/>
              <a:ea typeface="Roboto" panose="02000000000000000000" pitchFamily="2" charset="0"/>
            </a:endParaRPr>
          </a:p>
          <a:p>
            <a:pPr marL="285750" indent="-285750">
              <a:buFont typeface="Wingdings" panose="05000000000000000000" pitchFamily="2" charset="2"/>
              <a:buChar char="ü"/>
            </a:pPr>
            <a:r>
              <a:rPr lang="en-US" b="1" dirty="0">
                <a:solidFill>
                  <a:srgbClr val="697BD5"/>
                </a:solidFill>
                <a:latin typeface="Roboto Slab" pitchFamily="34" charset="0"/>
                <a:ea typeface="Roboto Slab" pitchFamily="34" charset="0"/>
                <a:cs typeface="Roboto Slab" pitchFamily="34" charset="0"/>
              </a:rPr>
              <a:t>LLM/AI : </a:t>
            </a:r>
            <a:r>
              <a:rPr lang="en-US" dirty="0">
                <a:solidFill>
                  <a:srgbClr val="717997"/>
                </a:solidFill>
                <a:latin typeface="Roboto" panose="02000000000000000000" pitchFamily="2" charset="0"/>
                <a:ea typeface="Roboto" panose="02000000000000000000" pitchFamily="2" charset="0"/>
              </a:rPr>
              <a:t>Unlike Uses Gemini and ai for the resume analysis and voice transformation into text, so that user can communicate/chat through any language.</a:t>
            </a:r>
            <a:endParaRPr lang="en-US" dirty="0">
              <a:solidFill>
                <a:srgbClr val="717997"/>
              </a:solidFill>
              <a:latin typeface="Roboto" panose="02000000000000000000" pitchFamily="2" charset="0"/>
              <a:ea typeface="Roboto" panose="02000000000000000000" pitchFamily="2" charset="0"/>
            </a:endParaRPr>
          </a:p>
          <a:p>
            <a:pPr marL="285750" indent="-285750">
              <a:buFont typeface="Wingdings" panose="05000000000000000000" pitchFamily="2" charset="2"/>
              <a:buChar char="ü"/>
            </a:pPr>
            <a:endParaRPr lang="en-US" dirty="0">
              <a:latin typeface="Roboto" panose="02000000000000000000" pitchFamily="2" charset="0"/>
              <a:ea typeface="Roboto" panose="02000000000000000000" pitchFamily="2" charset="0"/>
            </a:endParaRPr>
          </a:p>
          <a:p>
            <a:pPr marL="285750" indent="-285750">
              <a:buFont typeface="Wingdings" panose="05000000000000000000" pitchFamily="2" charset="2"/>
              <a:buChar char="ü"/>
            </a:pPr>
            <a:r>
              <a:rPr lang="en-US" b="1" dirty="0">
                <a:solidFill>
                  <a:srgbClr val="697BD5"/>
                </a:solidFill>
                <a:latin typeface="Roboto Slab" pitchFamily="34" charset="0"/>
                <a:ea typeface="Roboto Slab" pitchFamily="34" charset="0"/>
                <a:cs typeface="Roboto Slab" pitchFamily="34" charset="0"/>
              </a:rPr>
              <a:t>User Experience: </a:t>
            </a:r>
            <a:r>
              <a:rPr lang="en-US" dirty="0">
                <a:solidFill>
                  <a:srgbClr val="717997"/>
                </a:solidFill>
                <a:latin typeface="Roboto" panose="02000000000000000000" pitchFamily="2" charset="0"/>
                <a:ea typeface="Roboto" panose="02000000000000000000" pitchFamily="2" charset="0"/>
              </a:rPr>
              <a:t>Features a secure dashboard, optimization section and tracking section.</a:t>
            </a:r>
            <a:endParaRPr lang="en-US" dirty="0">
              <a:solidFill>
                <a:srgbClr val="717997"/>
              </a:solidFill>
              <a:latin typeface="Roboto" panose="02000000000000000000" pitchFamily="2" charset="0"/>
              <a:ea typeface="Roboto" panose="02000000000000000000" pitchFamily="2" charset="0"/>
            </a:endParaRPr>
          </a:p>
          <a:p>
            <a:endParaRPr lang="en-US" dirty="0">
              <a:latin typeface="Roboto" panose="02000000000000000000" pitchFamily="2" charset="0"/>
              <a:ea typeface="Roboto" panose="02000000000000000000" pitchFamily="2" charset="0"/>
            </a:endParaRPr>
          </a:p>
          <a:p>
            <a:pPr marL="285750" indent="-285750">
              <a:buFont typeface="Wingdings" panose="05000000000000000000" pitchFamily="2" charset="2"/>
              <a:buChar char="ü"/>
            </a:pPr>
            <a:r>
              <a:rPr lang="en-US" b="1" dirty="0">
                <a:solidFill>
                  <a:srgbClr val="697BD5"/>
                </a:solidFill>
                <a:latin typeface="Roboto Slab" pitchFamily="34" charset="0"/>
                <a:ea typeface="Roboto Slab" pitchFamily="34" charset="0"/>
                <a:cs typeface="Roboto Slab" pitchFamily="34" charset="0"/>
              </a:rPr>
              <a:t>Impact: </a:t>
            </a:r>
            <a:r>
              <a:rPr lang="en-US" dirty="0">
                <a:solidFill>
                  <a:srgbClr val="717997"/>
                </a:solidFill>
                <a:latin typeface="Roboto" panose="02000000000000000000" pitchFamily="2" charset="0"/>
                <a:ea typeface="Roboto" panose="02000000000000000000" pitchFamily="2" charset="0"/>
              </a:rPr>
              <a:t>The project aims to reduce the rate of rejections of a job candidate in a job interview for an unstructured resume or </a:t>
            </a:r>
            <a:r>
              <a:rPr lang="en-US" altLang="en-GB" dirty="0">
                <a:solidFill>
                  <a:srgbClr val="717997"/>
                </a:solidFill>
                <a:latin typeface="Roboto" panose="02000000000000000000" pitchFamily="2" charset="0"/>
                <a:ea typeface="Roboto" panose="02000000000000000000" pitchFamily="2" charset="0"/>
              </a:rPr>
              <a:t>absence</a:t>
            </a:r>
            <a:r>
              <a:rPr lang="en-US" dirty="0">
                <a:solidFill>
                  <a:srgbClr val="717997"/>
                </a:solidFill>
                <a:latin typeface="Roboto" panose="02000000000000000000" pitchFamily="2" charset="0"/>
                <a:ea typeface="Roboto" panose="02000000000000000000" pitchFamily="2" charset="0"/>
              </a:rPr>
              <a:t> of specific skills.</a:t>
            </a:r>
            <a:endParaRPr lang="en-US" dirty="0">
              <a:solidFill>
                <a:srgbClr val="717997"/>
              </a:solidFill>
              <a:latin typeface="Roboto" panose="02000000000000000000" pitchFamily="2" charset="0"/>
              <a:ea typeface="Roboto" panose="020000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 name="Google Shape;281;p25"/>
          <p:cNvSpPr txBox="1">
            <a:spLocks noGrp="1"/>
          </p:cNvSpPr>
          <p:nvPr>
            <p:ph type="title"/>
          </p:nvPr>
        </p:nvSpPr>
        <p:spPr>
          <a:xfrm>
            <a:off x="444936" y="307868"/>
            <a:ext cx="5526373" cy="712384"/>
          </a:xfrm>
          <a:prstGeom prst="rect">
            <a:avLst/>
          </a:prstGeom>
        </p:spPr>
        <p:txBody>
          <a:bodyPr spcFirstLastPara="1" wrap="square" lIns="91425" tIns="91425" rIns="91425" bIns="91425" anchor="t" anchorCtr="0">
            <a:noAutofit/>
          </a:bodyPr>
          <a:lstStyle/>
          <a:p>
            <a:pPr marL="0" indent="0" algn="l">
              <a:lnSpc>
                <a:spcPct val="100000"/>
              </a:lnSpc>
              <a:buNone/>
            </a:pPr>
            <a:r>
              <a:rPr lang="en-US" sz="2800" b="1" dirty="0">
                <a:solidFill>
                  <a:srgbClr val="3257B8"/>
                </a:solidFill>
                <a:latin typeface="Roboto Slab" pitchFamily="34" charset="0"/>
                <a:ea typeface="Roboto Slab" pitchFamily="34" charset="-122"/>
                <a:cs typeface="Roboto Slab" pitchFamily="34" charset="-120"/>
              </a:rPr>
              <a:t>TECH STACKS:</a:t>
            </a:r>
            <a:endParaRPr lang="en-US" sz="3200" dirty="0"/>
          </a:p>
        </p:txBody>
      </p:sp>
      <p:sp>
        <p:nvSpPr>
          <p:cNvPr id="2" name="TextBox 1"/>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5</a:t>
            </a:r>
            <a:endParaRPr lang="en-US" sz="800" b="1" spc="30" dirty="0">
              <a:solidFill>
                <a:schemeClr val="tx1">
                  <a:lumMod val="60000"/>
                  <a:lumOff val="40000"/>
                </a:schemeClr>
              </a:solidFill>
              <a:latin typeface="Trebuchet MS" panose="020B0603020202020204" charset="0"/>
            </a:endParaRPr>
          </a:p>
        </p:txBody>
      </p:sp>
      <p:sp>
        <p:nvSpPr>
          <p:cNvPr id="3" name="TextBox 2"/>
          <p:cNvSpPr txBox="1"/>
          <p:nvPr/>
        </p:nvSpPr>
        <p:spPr>
          <a:xfrm>
            <a:off x="571500" y="1020252"/>
            <a:ext cx="7117080" cy="3107690"/>
          </a:xfrm>
          <a:prstGeom prst="rect">
            <a:avLst/>
          </a:prstGeom>
          <a:noFill/>
        </p:spPr>
        <p:txBody>
          <a:bodyPr wrap="square" rtlCol="0">
            <a:spAutoFit/>
          </a:bodyPr>
          <a:lstStyle/>
          <a:p>
            <a:pPr marL="285750" indent="-285750">
              <a:buFont typeface="Wingdings" panose="05000000000000000000" pitchFamily="2" charset="2"/>
              <a:buChar char="Ø"/>
            </a:pPr>
            <a:r>
              <a:rPr lang="en-US" b="1" dirty="0">
                <a:solidFill>
                  <a:srgbClr val="697BD5"/>
                </a:solidFill>
                <a:latin typeface="Roboto Slab" pitchFamily="34" charset="0"/>
                <a:ea typeface="Roboto Slab" pitchFamily="34" charset="0"/>
                <a:cs typeface="Roboto Slab" pitchFamily="34" charset="0"/>
              </a:rPr>
              <a:t>Frontend:</a:t>
            </a:r>
            <a:endParaRPr lang="en-US" b="1" dirty="0">
              <a:solidFill>
                <a:srgbClr val="697BD5"/>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Ø"/>
            </a:pPr>
            <a:endParaRPr lang="en-US" b="1" dirty="0">
              <a:solidFill>
                <a:srgbClr val="697BD5"/>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Ø"/>
            </a:pPr>
            <a:endParaRPr lang="en-US" b="1" dirty="0">
              <a:solidFill>
                <a:srgbClr val="697BD5"/>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Ø"/>
            </a:pPr>
            <a:endParaRPr lang="en-US" b="1" dirty="0">
              <a:solidFill>
                <a:srgbClr val="697BD5"/>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Ø"/>
            </a:pPr>
            <a:endParaRPr lang="en-US" dirty="0">
              <a:solidFill>
                <a:srgbClr val="717997"/>
              </a:solidFill>
              <a:latin typeface="Roboto" panose="02000000000000000000" pitchFamily="2" charset="0"/>
              <a:ea typeface="Roboto" panose="02000000000000000000" pitchFamily="2" charset="0"/>
              <a:cs typeface="Roboto Slab" pitchFamily="34" charset="0"/>
            </a:endParaRPr>
          </a:p>
          <a:p>
            <a:pPr marL="285750" indent="-285750">
              <a:buFont typeface="Wingdings" panose="05000000000000000000" pitchFamily="2" charset="2"/>
              <a:buChar char="Ø"/>
            </a:pPr>
            <a:r>
              <a:rPr lang="en-US" b="1" dirty="0">
                <a:solidFill>
                  <a:srgbClr val="697BD5"/>
                </a:solidFill>
                <a:latin typeface="Roboto Slab" pitchFamily="34" charset="0"/>
                <a:ea typeface="Roboto Slab" pitchFamily="34" charset="0"/>
                <a:cs typeface="Roboto Slab" pitchFamily="34" charset="0"/>
              </a:rPr>
              <a:t>Backend :</a:t>
            </a:r>
            <a:endParaRPr lang="en-US" b="1" dirty="0">
              <a:solidFill>
                <a:srgbClr val="697BD5"/>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Ø"/>
            </a:pPr>
            <a:endParaRPr lang="en-US" b="1" dirty="0">
              <a:solidFill>
                <a:srgbClr val="697BD5"/>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Ø"/>
            </a:pPr>
            <a:endParaRPr lang="en-US" b="1" dirty="0">
              <a:solidFill>
                <a:srgbClr val="697BD5"/>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Ø"/>
            </a:pPr>
            <a:endParaRPr lang="en-US" dirty="0">
              <a:latin typeface="Roboto" panose="02000000000000000000" pitchFamily="2" charset="0"/>
              <a:ea typeface="Roboto" panose="02000000000000000000" pitchFamily="2" charset="0"/>
              <a:cs typeface="Roboto Slab" pitchFamily="34" charset="0"/>
            </a:endParaRPr>
          </a:p>
          <a:p>
            <a:pPr marL="285750" indent="-285750">
              <a:buFont typeface="Wingdings" panose="05000000000000000000" pitchFamily="2" charset="2"/>
              <a:buChar char="Ø"/>
            </a:pPr>
            <a:r>
              <a:rPr lang="en-US" b="1" dirty="0">
                <a:solidFill>
                  <a:srgbClr val="697BD5"/>
                </a:solidFill>
                <a:latin typeface="Roboto Slab" pitchFamily="34" charset="0"/>
                <a:ea typeface="Roboto Slab" pitchFamily="34" charset="0"/>
                <a:cs typeface="Roboto Slab" pitchFamily="34" charset="0"/>
              </a:rPr>
              <a:t>Database and Authentication:</a:t>
            </a:r>
            <a:endParaRPr lang="en-US" b="1" dirty="0">
              <a:solidFill>
                <a:srgbClr val="697BD5"/>
              </a:solidFill>
              <a:latin typeface="Roboto Slab" pitchFamily="34" charset="0"/>
              <a:ea typeface="Roboto Slab" pitchFamily="34" charset="0"/>
              <a:cs typeface="Roboto Slab" pitchFamily="34" charset="0"/>
            </a:endParaRPr>
          </a:p>
          <a:p>
            <a:pPr marL="0" indent="0">
              <a:buFont typeface="Wingdings" panose="05000000000000000000" pitchFamily="2" charset="2"/>
              <a:buNone/>
            </a:pPr>
            <a:endParaRPr lang="en-US" b="1" dirty="0">
              <a:solidFill>
                <a:srgbClr val="697BD5"/>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Ø"/>
            </a:pPr>
            <a:endParaRPr lang="en-US" b="1" dirty="0">
              <a:solidFill>
                <a:srgbClr val="697BD5"/>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Ø"/>
            </a:pPr>
            <a:endParaRPr lang="en-US" b="1" dirty="0">
              <a:solidFill>
                <a:srgbClr val="697BD5"/>
              </a:solidFill>
              <a:latin typeface="Roboto Slab" pitchFamily="34" charset="0"/>
              <a:ea typeface="Roboto Slab" pitchFamily="34" charset="0"/>
              <a:cs typeface="Roboto Slab" pitchFamily="34" charset="0"/>
            </a:endParaRPr>
          </a:p>
          <a:p>
            <a:pPr marL="285750" indent="-285750">
              <a:buFont typeface="Wingdings" panose="05000000000000000000" pitchFamily="2" charset="2"/>
              <a:buChar char="Ø"/>
            </a:pPr>
            <a:endParaRPr lang="en-US" dirty="0">
              <a:solidFill>
                <a:srgbClr val="717997"/>
              </a:solidFill>
              <a:latin typeface="Roboto" panose="02000000000000000000" pitchFamily="2" charset="0"/>
              <a:ea typeface="Roboto" panose="02000000000000000000" pitchFamily="2" charset="0"/>
              <a:cs typeface="Roboto Slab" pitchFamily="34" charset="0"/>
            </a:endParaRPr>
          </a:p>
        </p:txBody>
      </p:sp>
      <p:sp>
        <p:nvSpPr>
          <p:cNvPr id="4" name="TextBox 3"/>
          <p:cNvSpPr txBox="1"/>
          <p:nvPr/>
        </p:nvSpPr>
        <p:spPr>
          <a:xfrm>
            <a:off x="1219200" y="1281862"/>
            <a:ext cx="4320540" cy="645160"/>
          </a:xfrm>
          <a:prstGeom prst="rect">
            <a:avLst/>
          </a:prstGeom>
          <a:noFill/>
        </p:spPr>
        <p:txBody>
          <a:bodyPr wrap="square" rtlCol="0">
            <a:spAutoFit/>
          </a:bodyPr>
          <a:lstStyle/>
          <a:p>
            <a:pPr marL="171450" indent="-171450">
              <a:buFont typeface="Wingdings" panose="05000000000000000000" pitchFamily="2" charset="2"/>
              <a:buChar char="§"/>
            </a:pPr>
            <a:r>
              <a:rPr lang="en-US" sz="1200" b="1" dirty="0">
                <a:solidFill>
                  <a:srgbClr val="585858"/>
                </a:solidFill>
                <a:latin typeface="Roboto" panose="02000000000000000000" pitchFamily="2" charset="0"/>
                <a:ea typeface="Roboto" panose="02000000000000000000" pitchFamily="2" charset="0"/>
              </a:rPr>
              <a:t>Framework: </a:t>
            </a:r>
            <a:r>
              <a:rPr lang="en-US" sz="1200" dirty="0">
                <a:solidFill>
                  <a:srgbClr val="717997"/>
                </a:solidFill>
                <a:latin typeface="Roboto" panose="02000000000000000000" pitchFamily="2" charset="0"/>
                <a:ea typeface="Roboto" panose="02000000000000000000" pitchFamily="2" charset="0"/>
              </a:rPr>
              <a:t>Next.js 16, React 19</a:t>
            </a:r>
            <a:endParaRPr lang="en-US" sz="1200" dirty="0">
              <a:solidFill>
                <a:srgbClr val="717997"/>
              </a:solidFill>
              <a:latin typeface="Roboto" panose="02000000000000000000" pitchFamily="2" charset="0"/>
              <a:ea typeface="Roboto" panose="02000000000000000000" pitchFamily="2" charset="0"/>
            </a:endParaRPr>
          </a:p>
          <a:p>
            <a:pPr marL="171450" indent="-171450">
              <a:buFont typeface="Wingdings" panose="05000000000000000000" pitchFamily="2" charset="2"/>
              <a:buChar char="§"/>
            </a:pPr>
            <a:r>
              <a:rPr lang="en-US" sz="1200" b="1" dirty="0">
                <a:solidFill>
                  <a:srgbClr val="585858"/>
                </a:solidFill>
                <a:latin typeface="Roboto" panose="02000000000000000000" pitchFamily="2" charset="0"/>
                <a:ea typeface="Roboto" panose="02000000000000000000" pitchFamily="2" charset="0"/>
              </a:rPr>
              <a:t>Styling: </a:t>
            </a:r>
            <a:r>
              <a:rPr lang="en-US" sz="1200" dirty="0">
                <a:solidFill>
                  <a:srgbClr val="717997"/>
                </a:solidFill>
                <a:latin typeface="Roboto" panose="02000000000000000000" pitchFamily="2" charset="0"/>
                <a:ea typeface="Roboto" panose="02000000000000000000" pitchFamily="2" charset="0"/>
              </a:rPr>
              <a:t>Tailwind CSS V4 </a:t>
            </a:r>
            <a:endParaRPr lang="en-US" sz="1200" dirty="0">
              <a:solidFill>
                <a:srgbClr val="717997"/>
              </a:solidFill>
              <a:latin typeface="Roboto" panose="02000000000000000000" pitchFamily="2" charset="0"/>
              <a:ea typeface="Roboto" panose="02000000000000000000" pitchFamily="2" charset="0"/>
            </a:endParaRPr>
          </a:p>
          <a:p>
            <a:pPr marL="171450" indent="-171450">
              <a:buFont typeface="Wingdings" panose="05000000000000000000" pitchFamily="2" charset="2"/>
              <a:buChar char="§"/>
            </a:pPr>
            <a:r>
              <a:rPr lang="en-US" sz="1200" b="1" dirty="0">
                <a:solidFill>
                  <a:srgbClr val="585858"/>
                </a:solidFill>
                <a:latin typeface="Roboto" panose="02000000000000000000" pitchFamily="2" charset="0"/>
                <a:ea typeface="Roboto" panose="02000000000000000000" pitchFamily="2" charset="0"/>
              </a:rPr>
              <a:t>Language: </a:t>
            </a:r>
            <a:r>
              <a:rPr lang="en-US" sz="1200" dirty="0">
                <a:solidFill>
                  <a:srgbClr val="717997"/>
                </a:solidFill>
                <a:latin typeface="Roboto" panose="02000000000000000000" pitchFamily="2" charset="0"/>
                <a:ea typeface="Roboto" panose="02000000000000000000" pitchFamily="2" charset="0"/>
              </a:rPr>
              <a:t>Typescript</a:t>
            </a:r>
            <a:endParaRPr lang="en-US" sz="1200" dirty="0">
              <a:solidFill>
                <a:srgbClr val="717997"/>
              </a:solidFill>
              <a:latin typeface="Roboto" panose="02000000000000000000" pitchFamily="2" charset="0"/>
              <a:ea typeface="Roboto" panose="02000000000000000000" pitchFamily="2" charset="0"/>
            </a:endParaRPr>
          </a:p>
        </p:txBody>
      </p:sp>
      <p:sp>
        <p:nvSpPr>
          <p:cNvPr id="5" name="TextBox 4"/>
          <p:cNvSpPr txBox="1"/>
          <p:nvPr/>
        </p:nvSpPr>
        <p:spPr>
          <a:xfrm>
            <a:off x="1219200" y="2400965"/>
            <a:ext cx="4320540" cy="645160"/>
          </a:xfrm>
          <a:prstGeom prst="rect">
            <a:avLst/>
          </a:prstGeom>
          <a:noFill/>
        </p:spPr>
        <p:txBody>
          <a:bodyPr wrap="square" rtlCol="0">
            <a:spAutoFit/>
          </a:bodyPr>
          <a:lstStyle/>
          <a:p>
            <a:pPr marL="171450" indent="-171450">
              <a:buFont typeface="Wingdings" panose="05000000000000000000" pitchFamily="2" charset="2"/>
              <a:buChar char="§"/>
            </a:pPr>
            <a:r>
              <a:rPr lang="en-US" sz="1200" b="1" dirty="0">
                <a:solidFill>
                  <a:srgbClr val="585858"/>
                </a:solidFill>
                <a:latin typeface="Roboto" panose="02000000000000000000" pitchFamily="2" charset="0"/>
                <a:ea typeface="Roboto" panose="02000000000000000000" pitchFamily="2" charset="0"/>
              </a:rPr>
              <a:t>Primary Framework: </a:t>
            </a:r>
            <a:r>
              <a:rPr lang="en-US" sz="1200" dirty="0">
                <a:solidFill>
                  <a:srgbClr val="717997"/>
                </a:solidFill>
                <a:latin typeface="Roboto" panose="02000000000000000000" pitchFamily="2" charset="0"/>
                <a:ea typeface="Roboto" panose="02000000000000000000" pitchFamily="2" charset="0"/>
              </a:rPr>
              <a:t>Next.js Server Side</a:t>
            </a:r>
            <a:endParaRPr lang="en-US" sz="1200" dirty="0">
              <a:solidFill>
                <a:srgbClr val="717997"/>
              </a:solidFill>
              <a:latin typeface="Roboto" panose="02000000000000000000" pitchFamily="2" charset="0"/>
              <a:ea typeface="Roboto" panose="02000000000000000000" pitchFamily="2" charset="0"/>
            </a:endParaRPr>
          </a:p>
          <a:p>
            <a:pPr marL="171450" indent="-171450">
              <a:buFont typeface="Wingdings" panose="05000000000000000000" pitchFamily="2" charset="2"/>
              <a:buChar char="§"/>
            </a:pPr>
            <a:r>
              <a:rPr lang="en-US" sz="1200" b="1" dirty="0">
                <a:solidFill>
                  <a:srgbClr val="585858"/>
                </a:solidFill>
                <a:latin typeface="Roboto" panose="02000000000000000000" pitchFamily="2" charset="0"/>
                <a:ea typeface="Roboto" panose="02000000000000000000" pitchFamily="2" charset="0"/>
              </a:rPr>
              <a:t>API Services :</a:t>
            </a:r>
            <a:r>
              <a:rPr lang="en-US" sz="1200" dirty="0">
                <a:solidFill>
                  <a:srgbClr val="585858"/>
                </a:solidFill>
                <a:latin typeface="Roboto" panose="02000000000000000000" pitchFamily="2" charset="0"/>
                <a:ea typeface="Roboto" panose="02000000000000000000" pitchFamily="2" charset="0"/>
              </a:rPr>
              <a:t> </a:t>
            </a:r>
            <a:r>
              <a:rPr lang="en-US" sz="1200" dirty="0">
                <a:solidFill>
                  <a:srgbClr val="717997"/>
                </a:solidFill>
                <a:latin typeface="Roboto" panose="02000000000000000000" pitchFamily="2" charset="0"/>
                <a:ea typeface="Roboto" panose="02000000000000000000" pitchFamily="2" charset="0"/>
              </a:rPr>
              <a:t>Gemini api services and servam ai</a:t>
            </a:r>
            <a:endParaRPr lang="en-US" sz="1200" dirty="0">
              <a:solidFill>
                <a:srgbClr val="585858"/>
              </a:solidFill>
              <a:latin typeface="Roboto" panose="02000000000000000000" pitchFamily="2" charset="0"/>
              <a:ea typeface="Roboto" panose="02000000000000000000" pitchFamily="2" charset="0"/>
            </a:endParaRPr>
          </a:p>
          <a:p>
            <a:pPr marL="0" indent="0">
              <a:buFont typeface="Wingdings" panose="05000000000000000000" pitchFamily="2" charset="2"/>
              <a:buNone/>
            </a:pPr>
            <a:endParaRPr lang="en-US" sz="1200" dirty="0">
              <a:solidFill>
                <a:srgbClr val="585858"/>
              </a:solidFill>
              <a:latin typeface="Roboto" panose="02000000000000000000" pitchFamily="2" charset="0"/>
              <a:ea typeface="Roboto" panose="02000000000000000000" pitchFamily="2" charset="0"/>
            </a:endParaRPr>
          </a:p>
        </p:txBody>
      </p:sp>
      <p:sp>
        <p:nvSpPr>
          <p:cNvPr id="6" name="TextBox 5"/>
          <p:cNvSpPr txBox="1"/>
          <p:nvPr/>
        </p:nvSpPr>
        <p:spPr>
          <a:xfrm>
            <a:off x="1219200" y="3425108"/>
            <a:ext cx="4320540" cy="460375"/>
          </a:xfrm>
          <a:prstGeom prst="rect">
            <a:avLst/>
          </a:prstGeom>
          <a:noFill/>
        </p:spPr>
        <p:txBody>
          <a:bodyPr wrap="square" rtlCol="0">
            <a:spAutoFit/>
          </a:bodyPr>
          <a:lstStyle/>
          <a:p>
            <a:pPr marL="171450" indent="-171450">
              <a:buFont typeface="Wingdings" panose="05000000000000000000" pitchFamily="2" charset="2"/>
              <a:buChar char="§"/>
            </a:pPr>
            <a:r>
              <a:rPr lang="en-US" sz="1200" b="1" dirty="0">
                <a:solidFill>
                  <a:srgbClr val="585858"/>
                </a:solidFill>
                <a:latin typeface="Roboto" panose="02000000000000000000" pitchFamily="2" charset="0"/>
                <a:ea typeface="Roboto" panose="02000000000000000000" pitchFamily="2" charset="0"/>
              </a:rPr>
              <a:t>Database: </a:t>
            </a:r>
            <a:r>
              <a:rPr lang="en-US" sz="1200" dirty="0">
                <a:solidFill>
                  <a:srgbClr val="717997"/>
                </a:solidFill>
                <a:latin typeface="Roboto" panose="02000000000000000000" pitchFamily="2" charset="0"/>
                <a:ea typeface="Roboto" panose="02000000000000000000" pitchFamily="2" charset="0"/>
              </a:rPr>
              <a:t>PostgreSQL (vis Prisma ORM)</a:t>
            </a:r>
            <a:endParaRPr lang="en-US" sz="1200" dirty="0">
              <a:solidFill>
                <a:srgbClr val="717997"/>
              </a:solidFill>
              <a:latin typeface="Roboto" panose="02000000000000000000" pitchFamily="2" charset="0"/>
              <a:ea typeface="Roboto" panose="02000000000000000000" pitchFamily="2" charset="0"/>
            </a:endParaRPr>
          </a:p>
          <a:p>
            <a:pPr marL="171450" indent="-171450">
              <a:buFont typeface="Wingdings" panose="05000000000000000000" pitchFamily="2" charset="2"/>
              <a:buChar char="§"/>
            </a:pPr>
            <a:r>
              <a:rPr lang="en-US" sz="1200" b="1" dirty="0">
                <a:solidFill>
                  <a:srgbClr val="585858"/>
                </a:solidFill>
                <a:latin typeface="Roboto" panose="02000000000000000000" pitchFamily="2" charset="0"/>
                <a:ea typeface="Roboto" panose="02000000000000000000" pitchFamily="2" charset="0"/>
                <a:sym typeface="+mn-ea"/>
              </a:rPr>
              <a:t>Auth-Middleware</a:t>
            </a:r>
            <a:r>
              <a:rPr lang="en-US" sz="1200" dirty="0">
                <a:solidFill>
                  <a:srgbClr val="717997"/>
                </a:solidFill>
                <a:latin typeface="Roboto" panose="02000000000000000000" pitchFamily="2" charset="0"/>
                <a:ea typeface="Roboto" panose="02000000000000000000" pitchFamily="2" charset="0"/>
                <a:sym typeface="+mn-ea"/>
              </a:rPr>
              <a:t> : Clerk</a:t>
            </a:r>
            <a:endParaRPr lang="en-US" sz="1200" dirty="0">
              <a:solidFill>
                <a:srgbClr val="717997"/>
              </a:solidFill>
              <a:latin typeface="Roboto" panose="02000000000000000000" pitchFamily="2" charset="0"/>
              <a:ea typeface="Roboto" panose="020000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 name="Google Shape;281;p25"/>
          <p:cNvSpPr txBox="1">
            <a:spLocks noGrp="1"/>
          </p:cNvSpPr>
          <p:nvPr>
            <p:ph type="title"/>
          </p:nvPr>
        </p:nvSpPr>
        <p:spPr>
          <a:xfrm>
            <a:off x="216336" y="0"/>
            <a:ext cx="5526373" cy="712384"/>
          </a:xfrm>
          <a:prstGeom prst="rect">
            <a:avLst/>
          </a:prstGeom>
        </p:spPr>
        <p:txBody>
          <a:bodyPr spcFirstLastPara="1" wrap="square" lIns="91425" tIns="91425" rIns="91425" bIns="91425" anchor="t" anchorCtr="0">
            <a:noAutofit/>
          </a:bodyPr>
          <a:lstStyle/>
          <a:p>
            <a:pPr marL="0" indent="0" algn="l">
              <a:lnSpc>
                <a:spcPct val="100000"/>
              </a:lnSpc>
              <a:buNone/>
            </a:pPr>
            <a:r>
              <a:rPr lang="en-US" sz="2800" b="1" dirty="0">
                <a:solidFill>
                  <a:srgbClr val="3257B8"/>
                </a:solidFill>
                <a:latin typeface="Roboto Slab" pitchFamily="34" charset="0"/>
                <a:ea typeface="Roboto Slab" pitchFamily="34" charset="-122"/>
                <a:cs typeface="Roboto Slab" pitchFamily="34" charset="-120"/>
              </a:rPr>
              <a:t>PROPOSED APPROACH:</a:t>
            </a:r>
            <a:endParaRPr lang="en-US" sz="3200" dirty="0"/>
          </a:p>
        </p:txBody>
      </p:sp>
      <p:sp>
        <p:nvSpPr>
          <p:cNvPr id="2" name="TextBox 1"/>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6</a:t>
            </a:r>
            <a:endParaRPr lang="en-US" sz="800" b="1" spc="30" dirty="0">
              <a:solidFill>
                <a:schemeClr val="tx1">
                  <a:lumMod val="60000"/>
                  <a:lumOff val="40000"/>
                </a:schemeClr>
              </a:solidFill>
              <a:latin typeface="Trebuchet MS" panose="020B0603020202020204" charset="0"/>
            </a:endParaRPr>
          </a:p>
        </p:txBody>
      </p:sp>
      <p:sp>
        <p:nvSpPr>
          <p:cNvPr id="4" name="TextBox 3"/>
          <p:cNvSpPr txBox="1"/>
          <p:nvPr/>
        </p:nvSpPr>
        <p:spPr>
          <a:xfrm>
            <a:off x="216336" y="560432"/>
            <a:ext cx="2696985" cy="4477385"/>
          </a:xfrm>
          <a:prstGeom prst="rect">
            <a:avLst/>
          </a:prstGeom>
          <a:noFill/>
        </p:spPr>
        <p:txBody>
          <a:bodyPr wrap="square" rtlCol="0">
            <a:spAutoFit/>
          </a:bodyPr>
          <a:lstStyle/>
          <a:p>
            <a:r>
              <a:rPr lang="en-US" sz="1100" b="1" dirty="0">
                <a:solidFill>
                  <a:srgbClr val="697BD5"/>
                </a:solidFill>
                <a:latin typeface="Roboto Slab" pitchFamily="34" charset="0"/>
                <a:ea typeface="Roboto Slab" pitchFamily="34" charset="0"/>
                <a:cs typeface="Roboto Slab" pitchFamily="34" charset="0"/>
              </a:rPr>
              <a:t>Web Architecture: </a:t>
            </a:r>
            <a:r>
              <a:rPr lang="en-US" altLang="en-GB" sz="1000" dirty="0">
                <a:solidFill>
                  <a:srgbClr val="717997"/>
                </a:solidFill>
                <a:latin typeface="Roboto" panose="02000000000000000000" pitchFamily="2" charset="0"/>
                <a:ea typeface="Roboto" panose="02000000000000000000" pitchFamily="2" charset="0"/>
              </a:rPr>
              <a:t>We propose a modern full-stack architecture utilizing Next.js for the responsive frontend and server-side rendering, integrated with Clerk Authentication for secure user login and session management. The system enables users to upload resumes and optionally provide job descriptions, ensuring a seamless and secure user experience.</a:t>
            </a:r>
            <a:r>
              <a:rPr lang="en-US" sz="1000" dirty="0">
                <a:solidFill>
                  <a:srgbClr val="717997"/>
                </a:solidFill>
                <a:latin typeface="Roboto" panose="02000000000000000000" pitchFamily="2" charset="0"/>
                <a:ea typeface="Roboto" panose="02000000000000000000" pitchFamily="2" charset="0"/>
              </a:rPr>
              <a:t>.</a:t>
            </a:r>
            <a:endParaRPr lang="en-US" sz="1000" dirty="0">
              <a:solidFill>
                <a:srgbClr val="717997"/>
              </a:solidFill>
              <a:latin typeface="Roboto" panose="02000000000000000000" pitchFamily="2" charset="0"/>
              <a:ea typeface="Roboto" panose="02000000000000000000" pitchFamily="2" charset="0"/>
            </a:endParaRPr>
          </a:p>
          <a:p>
            <a:endParaRPr lang="en-US" sz="1100" dirty="0">
              <a:latin typeface="Roboto" panose="02000000000000000000" pitchFamily="2" charset="0"/>
              <a:ea typeface="Roboto" panose="02000000000000000000" pitchFamily="2" charset="0"/>
            </a:endParaRPr>
          </a:p>
          <a:p>
            <a:r>
              <a:rPr lang="en-US" altLang="en-GB" sz="1100" b="1" dirty="0">
                <a:solidFill>
                  <a:srgbClr val="697BD5"/>
                </a:solidFill>
                <a:latin typeface="Roboto Slab" pitchFamily="34" charset="0"/>
                <a:ea typeface="Roboto Slab" pitchFamily="34" charset="0"/>
                <a:cs typeface="Roboto Slab" pitchFamily="34" charset="0"/>
              </a:rPr>
              <a:t>AI-Driven Resume Analysis:</a:t>
            </a:r>
            <a:r>
              <a:rPr lang="en-US" sz="1100" b="1" dirty="0">
                <a:solidFill>
                  <a:srgbClr val="697BD5"/>
                </a:solidFill>
                <a:latin typeface="Roboto Slab" pitchFamily="34" charset="0"/>
                <a:ea typeface="Roboto Slab" pitchFamily="34" charset="0"/>
                <a:cs typeface="Roboto Slab" pitchFamily="34" charset="0"/>
              </a:rPr>
              <a:t> </a:t>
            </a:r>
            <a:r>
              <a:rPr lang="en-US" altLang="en-GB" sz="1100" dirty="0">
                <a:solidFill>
                  <a:srgbClr val="717997"/>
                </a:solidFill>
                <a:latin typeface="Roboto" panose="02000000000000000000" pitchFamily="2" charset="0"/>
                <a:ea typeface="Roboto" panose="02000000000000000000" pitchFamily="2" charset="0"/>
              </a:rPr>
              <a:t>Unlike traditional resume screening systems, our approach leverages Large Language Models (LLMs) such as Google Gemini to intelligently analyze resumes. The model evaluates the resume against the job description and generates key insights including Match Score, ATS Compatibility Score, and a structured resume summary, enabling users to understand how well their profile aligns with the job requirements</a:t>
            </a:r>
            <a:r>
              <a:rPr lang="en-US" altLang="en-GB" sz="1100" dirty="0">
                <a:latin typeface="Roboto" panose="02000000000000000000" pitchFamily="2" charset="0"/>
                <a:ea typeface="Roboto" panose="02000000000000000000" pitchFamily="2" charset="0"/>
              </a:rPr>
              <a:t>.</a:t>
            </a:r>
            <a:endParaRPr lang="en-US" altLang="en-GB" sz="1100" dirty="0">
              <a:latin typeface="Roboto" panose="02000000000000000000" pitchFamily="2" charset="0"/>
              <a:ea typeface="Roboto" panose="02000000000000000000" pitchFamily="2" charset="0"/>
            </a:endParaRPr>
          </a:p>
          <a:p>
            <a:r>
              <a:rPr lang="en-US" altLang="en-GB" sz="1100" b="1" dirty="0">
                <a:solidFill>
                  <a:srgbClr val="697BD5"/>
                </a:solidFill>
                <a:latin typeface="Roboto Slab" pitchFamily="34" charset="0"/>
                <a:ea typeface="Roboto Slab" pitchFamily="34" charset="0"/>
                <a:cs typeface="Roboto Slab" pitchFamily="34" charset="0"/>
              </a:rPr>
              <a:t>Resume Optimization Engine</a:t>
            </a:r>
            <a:r>
              <a:rPr lang="en-US" sz="1100" b="1" dirty="0">
                <a:solidFill>
                  <a:srgbClr val="697BD5"/>
                </a:solidFill>
                <a:latin typeface="Roboto Slab" pitchFamily="34" charset="0"/>
                <a:ea typeface="Roboto Slab" pitchFamily="34" charset="0"/>
                <a:cs typeface="Roboto Slab" pitchFamily="34" charset="0"/>
              </a:rPr>
              <a:t>: </a:t>
            </a:r>
            <a:r>
              <a:rPr lang="en-US" altLang="en-GB" sz="1000" dirty="0">
                <a:solidFill>
                  <a:srgbClr val="717997"/>
                </a:solidFill>
                <a:latin typeface="Roboto" panose="02000000000000000000" pitchFamily="2" charset="0"/>
                <a:ea typeface="Roboto" panose="02000000000000000000" pitchFamily="2" charset="0"/>
              </a:rPr>
              <a:t>To improve hiring success rates, the system provides an AI-powered optimization feature that suggests modifications to increase resume relevance.</a:t>
            </a:r>
            <a:endParaRPr lang="en-US" altLang="en-GB" sz="1000" dirty="0">
              <a:solidFill>
                <a:srgbClr val="717997"/>
              </a:solidFill>
              <a:latin typeface="Roboto" panose="02000000000000000000" pitchFamily="2" charset="0"/>
              <a:ea typeface="Roboto" panose="02000000000000000000" pitchFamily="2" charset="0"/>
            </a:endParaRPr>
          </a:p>
        </p:txBody>
      </p:sp>
      <p:pic>
        <p:nvPicPr>
          <p:cNvPr id="7" name="Picture 6" descr="ChatGPT Image Mar 7, 2026, 07_05_06 PM"/>
          <p:cNvPicPr>
            <a:picLocks noChangeAspect="1"/>
          </p:cNvPicPr>
          <p:nvPr/>
        </p:nvPicPr>
        <p:blipFill>
          <a:blip r:embed="rId1"/>
          <a:stretch>
            <a:fillRect/>
          </a:stretch>
        </p:blipFill>
        <p:spPr>
          <a:xfrm>
            <a:off x="3121660" y="712470"/>
            <a:ext cx="5470525" cy="37172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 name="Google Shape;281;p25"/>
          <p:cNvSpPr txBox="1">
            <a:spLocks noGrp="1"/>
          </p:cNvSpPr>
          <p:nvPr>
            <p:ph type="title"/>
          </p:nvPr>
        </p:nvSpPr>
        <p:spPr>
          <a:xfrm>
            <a:off x="216336" y="0"/>
            <a:ext cx="7784664" cy="712384"/>
          </a:xfrm>
          <a:prstGeom prst="rect">
            <a:avLst/>
          </a:prstGeom>
        </p:spPr>
        <p:txBody>
          <a:bodyPr spcFirstLastPara="1" wrap="square" lIns="91425" tIns="91425" rIns="91425" bIns="91425" anchor="t" anchorCtr="0">
            <a:noAutofit/>
          </a:bodyPr>
          <a:lstStyle/>
          <a:p>
            <a:pPr marL="0" indent="0" algn="l">
              <a:lnSpc>
                <a:spcPct val="100000"/>
              </a:lnSpc>
              <a:buNone/>
            </a:pPr>
            <a:r>
              <a:rPr lang="en-US" sz="2800" b="1" dirty="0">
                <a:solidFill>
                  <a:srgbClr val="3257B8"/>
                </a:solidFill>
                <a:latin typeface="Roboto Slab" pitchFamily="34" charset="0"/>
                <a:ea typeface="Roboto Slab" pitchFamily="34" charset="-122"/>
                <a:cs typeface="Roboto Slab" pitchFamily="34" charset="-120"/>
              </a:rPr>
              <a:t>OVERVIEW OF USER INTERFACE:</a:t>
            </a:r>
            <a:endParaRPr lang="en-US" sz="3200" dirty="0"/>
          </a:p>
        </p:txBody>
      </p:sp>
      <p:sp>
        <p:nvSpPr>
          <p:cNvPr id="2" name="TextBox 1"/>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9</a:t>
            </a:r>
            <a:endParaRPr lang="en-US" sz="800" b="1" spc="30" dirty="0">
              <a:solidFill>
                <a:schemeClr val="tx1">
                  <a:lumMod val="60000"/>
                  <a:lumOff val="40000"/>
                </a:schemeClr>
              </a:solidFill>
              <a:latin typeface="Trebuchet MS" panose="020B0603020202020204" charset="0"/>
            </a:endParaRPr>
          </a:p>
        </p:txBody>
      </p:sp>
      <p:sp>
        <p:nvSpPr>
          <p:cNvPr id="3" name="Text Box 2"/>
          <p:cNvSpPr txBox="1"/>
          <p:nvPr/>
        </p:nvSpPr>
        <p:spPr>
          <a:xfrm>
            <a:off x="355600" y="712470"/>
            <a:ext cx="8522335" cy="4037965"/>
          </a:xfrm>
          <a:prstGeom prst="rect">
            <a:avLst/>
          </a:prstGeom>
          <a:noFill/>
        </p:spPr>
        <p:txBody>
          <a:bodyPr wrap="square" rtlCol="0">
            <a:noAutofit/>
          </a:bodyPr>
          <a:p>
            <a:endParaRPr lang="en-GB" altLang="en-US"/>
          </a:p>
        </p:txBody>
      </p:sp>
      <p:pic>
        <p:nvPicPr>
          <p:cNvPr id="4" name="Picture 3"/>
          <p:cNvPicPr>
            <a:picLocks noChangeAspect="1"/>
          </p:cNvPicPr>
          <p:nvPr/>
        </p:nvPicPr>
        <p:blipFill>
          <a:blip r:embed="rId1"/>
          <a:stretch>
            <a:fillRect/>
          </a:stretch>
        </p:blipFill>
        <p:spPr>
          <a:xfrm>
            <a:off x="2561590" y="711835"/>
            <a:ext cx="3662680" cy="40379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 name="Google Shape;281;p25"/>
          <p:cNvSpPr txBox="1">
            <a:spLocks noGrp="1"/>
          </p:cNvSpPr>
          <p:nvPr>
            <p:ph type="title"/>
          </p:nvPr>
        </p:nvSpPr>
        <p:spPr>
          <a:xfrm>
            <a:off x="155376" y="137160"/>
            <a:ext cx="7784664" cy="712384"/>
          </a:xfrm>
          <a:prstGeom prst="rect">
            <a:avLst/>
          </a:prstGeom>
        </p:spPr>
        <p:txBody>
          <a:bodyPr spcFirstLastPara="1" wrap="square" lIns="91425" tIns="91425" rIns="91425" bIns="91425" anchor="t" anchorCtr="0">
            <a:noAutofit/>
          </a:bodyPr>
          <a:lstStyle/>
          <a:p>
            <a:pPr marL="0" indent="0" algn="l">
              <a:lnSpc>
                <a:spcPct val="100000"/>
              </a:lnSpc>
              <a:buNone/>
            </a:pPr>
            <a:r>
              <a:rPr lang="en-US" sz="2800" b="1" dirty="0">
                <a:solidFill>
                  <a:srgbClr val="3257B8"/>
                </a:solidFill>
                <a:latin typeface="Roboto Slab" pitchFamily="34" charset="0"/>
                <a:ea typeface="Roboto Slab" pitchFamily="34" charset="-122"/>
                <a:cs typeface="Roboto Slab" pitchFamily="34" charset="-120"/>
              </a:rPr>
              <a:t>OVERVIEW OF AUTH FORMS:</a:t>
            </a:r>
            <a:endParaRPr lang="en-US" sz="3200" dirty="0"/>
          </a:p>
        </p:txBody>
      </p:sp>
      <p:sp>
        <p:nvSpPr>
          <p:cNvPr id="2" name="TextBox 1"/>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10</a:t>
            </a:r>
            <a:endParaRPr lang="en-US" sz="800" b="1" spc="30" dirty="0">
              <a:solidFill>
                <a:schemeClr val="tx1">
                  <a:lumMod val="60000"/>
                  <a:lumOff val="40000"/>
                </a:schemeClr>
              </a:solidFill>
              <a:latin typeface="Trebuchet MS" panose="020B0603020202020204" charset="0"/>
            </a:endParaRPr>
          </a:p>
        </p:txBody>
      </p:sp>
      <p:pic>
        <p:nvPicPr>
          <p:cNvPr id="5" name="Picture 4"/>
          <p:cNvPicPr>
            <a:picLocks noChangeAspect="1"/>
          </p:cNvPicPr>
          <p:nvPr/>
        </p:nvPicPr>
        <p:blipFill>
          <a:blip r:embed="rId1"/>
          <a:stretch>
            <a:fillRect/>
          </a:stretch>
        </p:blipFill>
        <p:spPr>
          <a:xfrm>
            <a:off x="154940" y="786765"/>
            <a:ext cx="3916045" cy="3945255"/>
          </a:xfrm>
          <a:prstGeom prst="rect">
            <a:avLst/>
          </a:prstGeom>
        </p:spPr>
      </p:pic>
      <p:pic>
        <p:nvPicPr>
          <p:cNvPr id="6" name="Picture 5"/>
          <p:cNvPicPr>
            <a:picLocks noChangeAspect="1"/>
          </p:cNvPicPr>
          <p:nvPr/>
        </p:nvPicPr>
        <p:blipFill>
          <a:blip r:embed="rId2"/>
          <a:stretch>
            <a:fillRect/>
          </a:stretch>
        </p:blipFill>
        <p:spPr>
          <a:xfrm>
            <a:off x="4853305" y="848995"/>
            <a:ext cx="3218815" cy="42945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 name="Google Shape;281;p25"/>
          <p:cNvSpPr txBox="1">
            <a:spLocks noGrp="1"/>
          </p:cNvSpPr>
          <p:nvPr>
            <p:ph type="title"/>
          </p:nvPr>
        </p:nvSpPr>
        <p:spPr>
          <a:xfrm>
            <a:off x="155376" y="137160"/>
            <a:ext cx="7784664" cy="712384"/>
          </a:xfrm>
          <a:prstGeom prst="rect">
            <a:avLst/>
          </a:prstGeom>
        </p:spPr>
        <p:txBody>
          <a:bodyPr spcFirstLastPara="1" wrap="square" lIns="91425" tIns="91425" rIns="91425" bIns="91425" anchor="t" anchorCtr="0">
            <a:noAutofit/>
          </a:bodyPr>
          <a:lstStyle/>
          <a:p>
            <a:pPr marL="0" indent="0" algn="l">
              <a:lnSpc>
                <a:spcPct val="100000"/>
              </a:lnSpc>
              <a:buNone/>
            </a:pPr>
            <a:r>
              <a:rPr lang="en-US" sz="2800" b="1" dirty="0">
                <a:solidFill>
                  <a:srgbClr val="3257B8"/>
                </a:solidFill>
                <a:latin typeface="Roboto Slab" pitchFamily="34" charset="0"/>
                <a:ea typeface="Roboto Slab" pitchFamily="34" charset="-122"/>
                <a:cs typeface="Roboto Slab" pitchFamily="34" charset="-120"/>
              </a:rPr>
              <a:t>OVERVIEW OF DASHBOARD:</a:t>
            </a:r>
            <a:endParaRPr lang="en-US" sz="3200" dirty="0"/>
          </a:p>
        </p:txBody>
      </p:sp>
      <p:sp>
        <p:nvSpPr>
          <p:cNvPr id="2" name="TextBox 1"/>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11</a:t>
            </a:r>
            <a:endParaRPr lang="en-US" sz="800" b="1" spc="30" dirty="0">
              <a:solidFill>
                <a:schemeClr val="tx1">
                  <a:lumMod val="60000"/>
                  <a:lumOff val="40000"/>
                </a:schemeClr>
              </a:solidFill>
              <a:latin typeface="Trebuchet MS" panose="020B0603020202020204" charset="0"/>
            </a:endParaRPr>
          </a:p>
        </p:txBody>
      </p:sp>
      <p:pic>
        <p:nvPicPr>
          <p:cNvPr id="4" name="Picture 3"/>
          <p:cNvPicPr>
            <a:picLocks noChangeAspect="1"/>
          </p:cNvPicPr>
          <p:nvPr/>
        </p:nvPicPr>
        <p:blipFill>
          <a:blip r:embed="rId1"/>
          <a:stretch>
            <a:fillRect/>
          </a:stretch>
        </p:blipFill>
        <p:spPr>
          <a:xfrm>
            <a:off x="260350" y="920115"/>
            <a:ext cx="8633460" cy="40246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 name="Google Shape;281;p25"/>
          <p:cNvSpPr txBox="1">
            <a:spLocks noGrp="1"/>
          </p:cNvSpPr>
          <p:nvPr>
            <p:ph type="title"/>
          </p:nvPr>
        </p:nvSpPr>
        <p:spPr>
          <a:xfrm>
            <a:off x="155376" y="137160"/>
            <a:ext cx="7784664" cy="712384"/>
          </a:xfrm>
          <a:prstGeom prst="rect">
            <a:avLst/>
          </a:prstGeom>
        </p:spPr>
        <p:txBody>
          <a:bodyPr spcFirstLastPara="1" wrap="square" lIns="91425" tIns="91425" rIns="91425" bIns="91425" anchor="t" anchorCtr="0">
            <a:noAutofit/>
          </a:bodyPr>
          <a:lstStyle/>
          <a:p>
            <a:pPr marL="0" indent="0" algn="l">
              <a:lnSpc>
                <a:spcPct val="100000"/>
              </a:lnSpc>
              <a:buNone/>
            </a:pPr>
            <a:r>
              <a:rPr lang="en-US" sz="2800" b="1" dirty="0">
                <a:solidFill>
                  <a:srgbClr val="3257B8"/>
                </a:solidFill>
                <a:latin typeface="Roboto Slab" pitchFamily="34" charset="0"/>
                <a:ea typeface="Roboto Slab" pitchFamily="34" charset="-122"/>
                <a:cs typeface="Roboto Slab" pitchFamily="34" charset="-120"/>
              </a:rPr>
              <a:t>OVERVIEW OF ANALYSIS :</a:t>
            </a:r>
            <a:endParaRPr lang="en-US" sz="3200" dirty="0"/>
          </a:p>
        </p:txBody>
      </p:sp>
      <p:sp>
        <p:nvSpPr>
          <p:cNvPr id="2" name="TextBox 1"/>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12</a:t>
            </a:r>
            <a:endParaRPr lang="en-US" sz="800" b="1" spc="30" dirty="0">
              <a:solidFill>
                <a:schemeClr val="tx1">
                  <a:lumMod val="60000"/>
                  <a:lumOff val="40000"/>
                </a:schemeClr>
              </a:solidFill>
              <a:latin typeface="Trebuchet MS" panose="020B0603020202020204" charset="0"/>
            </a:endParaRPr>
          </a:p>
        </p:txBody>
      </p:sp>
      <p:pic>
        <p:nvPicPr>
          <p:cNvPr id="3" name="Picture 2"/>
          <p:cNvPicPr>
            <a:picLocks noChangeAspect="1"/>
          </p:cNvPicPr>
          <p:nvPr/>
        </p:nvPicPr>
        <p:blipFill>
          <a:blip r:embed="rId1"/>
          <a:stretch>
            <a:fillRect/>
          </a:stretch>
        </p:blipFill>
        <p:spPr>
          <a:xfrm>
            <a:off x="307340" y="969645"/>
            <a:ext cx="4345940" cy="3171190"/>
          </a:xfrm>
          <a:prstGeom prst="rect">
            <a:avLst/>
          </a:prstGeom>
        </p:spPr>
      </p:pic>
      <p:pic>
        <p:nvPicPr>
          <p:cNvPr id="5" name="Picture 4"/>
          <p:cNvPicPr>
            <a:picLocks noChangeAspect="1"/>
          </p:cNvPicPr>
          <p:nvPr/>
        </p:nvPicPr>
        <p:blipFill>
          <a:blip r:embed="rId2"/>
          <a:stretch>
            <a:fillRect/>
          </a:stretch>
        </p:blipFill>
        <p:spPr>
          <a:xfrm>
            <a:off x="4726305" y="848360"/>
            <a:ext cx="4170045" cy="37928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 name="Google Shape;281;p25"/>
          <p:cNvSpPr txBox="1">
            <a:spLocks noGrp="1"/>
          </p:cNvSpPr>
          <p:nvPr>
            <p:ph type="title"/>
          </p:nvPr>
        </p:nvSpPr>
        <p:spPr>
          <a:xfrm>
            <a:off x="452556" y="492125"/>
            <a:ext cx="7784664" cy="712384"/>
          </a:xfrm>
          <a:prstGeom prst="rect">
            <a:avLst/>
          </a:prstGeom>
        </p:spPr>
        <p:txBody>
          <a:bodyPr spcFirstLastPara="1" wrap="square" lIns="91425" tIns="91425" rIns="91425" bIns="91425" anchor="t" anchorCtr="0">
            <a:noAutofit/>
          </a:bodyPr>
          <a:lstStyle/>
          <a:p>
            <a:pPr marL="0" indent="0" algn="l">
              <a:lnSpc>
                <a:spcPct val="100000"/>
              </a:lnSpc>
              <a:buNone/>
            </a:pPr>
            <a:r>
              <a:rPr lang="en-US" sz="2800" b="1" dirty="0">
                <a:solidFill>
                  <a:srgbClr val="3257B8"/>
                </a:solidFill>
                <a:latin typeface="Roboto Slab" pitchFamily="34" charset="0"/>
                <a:ea typeface="Roboto Slab" pitchFamily="34" charset="-122"/>
                <a:cs typeface="Roboto Slab" pitchFamily="34" charset="-120"/>
              </a:rPr>
              <a:t>FUTURE WORK:</a:t>
            </a:r>
            <a:endParaRPr lang="en-US" sz="3200" dirty="0"/>
          </a:p>
        </p:txBody>
      </p:sp>
      <p:sp>
        <p:nvSpPr>
          <p:cNvPr id="2" name="TextBox 1"/>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15</a:t>
            </a:r>
            <a:endParaRPr lang="en-US" sz="800" b="1" spc="30" dirty="0">
              <a:solidFill>
                <a:schemeClr val="tx1">
                  <a:lumMod val="60000"/>
                  <a:lumOff val="40000"/>
                </a:schemeClr>
              </a:solidFill>
              <a:latin typeface="Trebuchet MS" panose="020B0603020202020204" charset="0"/>
            </a:endParaRPr>
          </a:p>
        </p:txBody>
      </p:sp>
      <p:sp>
        <p:nvSpPr>
          <p:cNvPr id="3" name="TextBox 2"/>
          <p:cNvSpPr txBox="1"/>
          <p:nvPr/>
        </p:nvSpPr>
        <p:spPr>
          <a:xfrm>
            <a:off x="1211580" y="1204595"/>
            <a:ext cx="5592445" cy="3140710"/>
          </a:xfrm>
          <a:prstGeom prst="rect">
            <a:avLst/>
          </a:prstGeom>
          <a:noFill/>
        </p:spPr>
        <p:txBody>
          <a:bodyPr wrap="square" rtlCol="0">
            <a:noAutofit/>
          </a:bodyPr>
          <a:lstStyle/>
          <a:p>
            <a:pPr marL="171450" indent="-171450" algn="just">
              <a:buFont typeface="Wingdings" panose="05000000000000000000" pitchFamily="2" charset="2"/>
              <a:buChar char="Ø"/>
            </a:pPr>
            <a:r>
              <a:rPr lang="en-US" sz="1200" b="1" dirty="0">
                <a:solidFill>
                  <a:srgbClr val="697BD5"/>
                </a:solidFill>
                <a:latin typeface="Roboto Slab" pitchFamily="34" charset="0"/>
                <a:ea typeface="Roboto Slab" pitchFamily="34" charset="0"/>
                <a:cs typeface="Roboto Slab" pitchFamily="34" charset="0"/>
              </a:rPr>
              <a:t>Tracking:</a:t>
            </a:r>
            <a:r>
              <a:rPr lang="en-US" sz="1200" dirty="0">
                <a:latin typeface="Roboto" panose="02000000000000000000" pitchFamily="2" charset="0"/>
                <a:ea typeface="Roboto" panose="02000000000000000000" pitchFamily="2" charset="0"/>
              </a:rPr>
              <a:t> </a:t>
            </a:r>
            <a:r>
              <a:rPr lang="en-US" sz="1200" dirty="0">
                <a:solidFill>
                  <a:srgbClr val="717997"/>
                </a:solidFill>
                <a:latin typeface="Roboto" panose="02000000000000000000" pitchFamily="2" charset="0"/>
                <a:ea typeface="Roboto" panose="02000000000000000000" pitchFamily="2" charset="0"/>
              </a:rPr>
              <a:t>We are thinking to build a tracker where user can </a:t>
            </a:r>
            <a:r>
              <a:rPr lang="en-US" altLang="en-GB" sz="1200" dirty="0">
                <a:solidFill>
                  <a:srgbClr val="717997"/>
                </a:solidFill>
                <a:latin typeface="Roboto" panose="02000000000000000000" pitchFamily="2" charset="0"/>
                <a:ea typeface="Roboto" panose="02000000000000000000" pitchFamily="2" charset="0"/>
              </a:rPr>
              <a:t>Track his job applications from wishlist to offer.</a:t>
            </a:r>
            <a:endParaRPr lang="en-US" altLang="en-GB" sz="1200" dirty="0">
              <a:solidFill>
                <a:srgbClr val="717997"/>
              </a:solidFill>
              <a:latin typeface="Roboto" panose="02000000000000000000" pitchFamily="2" charset="0"/>
              <a:ea typeface="Roboto" panose="02000000000000000000" pitchFamily="2" charset="0"/>
            </a:endParaRPr>
          </a:p>
          <a:p>
            <a:pPr marL="171450" indent="-171450" algn="just">
              <a:buFont typeface="Wingdings" panose="05000000000000000000" pitchFamily="2" charset="2"/>
              <a:buChar char="Ø"/>
            </a:pPr>
            <a:endParaRPr lang="en-US" altLang="en-GB" sz="1200" dirty="0">
              <a:solidFill>
                <a:srgbClr val="717997"/>
              </a:solidFill>
              <a:latin typeface="Roboto" panose="02000000000000000000" pitchFamily="2" charset="0"/>
              <a:ea typeface="Roboto" panose="02000000000000000000" pitchFamily="2" charset="0"/>
            </a:endParaRPr>
          </a:p>
          <a:p>
            <a:pPr marL="171450" indent="-171450" algn="just">
              <a:buFont typeface="Wingdings" panose="05000000000000000000" pitchFamily="2" charset="2"/>
              <a:buChar char="Ø"/>
            </a:pPr>
            <a:r>
              <a:rPr lang="en-US" sz="1200" b="1" dirty="0">
                <a:solidFill>
                  <a:srgbClr val="697BD5"/>
                </a:solidFill>
                <a:latin typeface="Roboto" panose="02000000000000000000" pitchFamily="2" charset="0"/>
                <a:ea typeface="Roboto" panose="02000000000000000000" pitchFamily="2" charset="0"/>
                <a:sym typeface="+mn-ea"/>
              </a:rPr>
              <a:t>Job Suggestions: </a:t>
            </a:r>
            <a:r>
              <a:rPr lang="en-US" sz="1200" dirty="0">
                <a:solidFill>
                  <a:srgbClr val="717997"/>
                </a:solidFill>
                <a:latin typeface="Roboto" panose="02000000000000000000" pitchFamily="2" charset="0"/>
                <a:ea typeface="Roboto" panose="02000000000000000000" pitchFamily="2" charset="0"/>
                <a:sym typeface="+mn-ea"/>
              </a:rPr>
              <a:t>It will suggest companies to the applicant that he/she can apply according to his role.</a:t>
            </a:r>
            <a:endParaRPr lang="en-US" sz="1200" dirty="0">
              <a:solidFill>
                <a:srgbClr val="717997"/>
              </a:solidFill>
              <a:latin typeface="Roboto" panose="02000000000000000000" pitchFamily="2" charset="0"/>
              <a:ea typeface="Roboto" panose="02000000000000000000" pitchFamily="2" charset="0"/>
              <a:sym typeface="+mn-ea"/>
            </a:endParaRPr>
          </a:p>
          <a:p>
            <a:pPr marL="171450" indent="-171450" algn="just">
              <a:buFont typeface="Wingdings" panose="05000000000000000000" pitchFamily="2" charset="2"/>
              <a:buChar char="Ø"/>
            </a:pPr>
            <a:endParaRPr lang="en-US" altLang="en-GB" sz="1200" dirty="0">
              <a:solidFill>
                <a:srgbClr val="717997"/>
              </a:solidFill>
              <a:latin typeface="Roboto" panose="02000000000000000000" pitchFamily="2" charset="0"/>
              <a:ea typeface="Roboto" panose="02000000000000000000" pitchFamily="2" charset="0"/>
              <a:sym typeface="+mn-ea"/>
            </a:endParaRPr>
          </a:p>
          <a:p>
            <a:pPr marL="171450" indent="-171450" algn="just">
              <a:buFont typeface="Wingdings" panose="05000000000000000000" pitchFamily="2" charset="2"/>
              <a:buChar char="Ø"/>
            </a:pPr>
            <a:r>
              <a:rPr lang="en-US" sz="1200" b="1" dirty="0">
                <a:solidFill>
                  <a:srgbClr val="697BD5"/>
                </a:solidFill>
                <a:latin typeface="Roboto" panose="02000000000000000000" pitchFamily="2" charset="0"/>
                <a:ea typeface="Roboto" panose="02000000000000000000" pitchFamily="2" charset="0"/>
                <a:sym typeface="+mn-ea"/>
              </a:rPr>
              <a:t>LinkedIn Connection: </a:t>
            </a:r>
            <a:r>
              <a:rPr lang="en-US" altLang="en-GB" sz="1200" dirty="0">
                <a:solidFill>
                  <a:srgbClr val="717997"/>
                </a:solidFill>
                <a:latin typeface="Roboto" panose="02000000000000000000" pitchFamily="2" charset="0"/>
                <a:ea typeface="Roboto" panose="02000000000000000000" pitchFamily="2" charset="0"/>
              </a:rPr>
              <a:t>This feature adds a Connect with LinkedIn option on the Optimizer page. Users authorize read-only access to their LinkedIn profile, and the platform automatically imports their headline, work experience, education, and skills directly into the optimizer inputs with no typing required.The user can review and edit the imported data before running the optimizer, ensuring complete control over what gets optimized. The LinkedIn token is stored securely on the server and never exposed in the browser.</a:t>
            </a:r>
            <a:endParaRPr lang="en-US" altLang="en-GB" sz="1200" dirty="0">
              <a:solidFill>
                <a:srgbClr val="585858"/>
              </a:solidFill>
              <a:latin typeface="Roboto" panose="02000000000000000000" pitchFamily="2" charset="0"/>
              <a:ea typeface="Roboto" panose="02000000000000000000" pitchFamily="2" charset="0"/>
            </a:endParaRPr>
          </a:p>
          <a:p>
            <a:pPr marL="171450" indent="-171450" algn="just">
              <a:buFont typeface="Wingdings" panose="05000000000000000000" pitchFamily="2" charset="2"/>
              <a:buChar char="Ø"/>
            </a:pPr>
            <a:endParaRPr lang="en-US" sz="1200" dirty="0">
              <a:latin typeface="Roboto" panose="02000000000000000000" pitchFamily="2" charset="0"/>
              <a:ea typeface="Roboto" panose="02000000000000000000" pitchFamily="2" charset="0"/>
            </a:endParaRPr>
          </a:p>
          <a:p>
            <a:pPr marL="171450" indent="-171450" algn="just">
              <a:buFont typeface="Wingdings" panose="05000000000000000000" pitchFamily="2" charset="2"/>
              <a:buChar char="Ø"/>
            </a:pPr>
            <a:r>
              <a:rPr lang="en-US" sz="1200" b="1" dirty="0">
                <a:solidFill>
                  <a:srgbClr val="697BD5"/>
                </a:solidFill>
                <a:latin typeface="Roboto" panose="02000000000000000000" pitchFamily="2" charset="0"/>
                <a:ea typeface="Roboto" panose="02000000000000000000" pitchFamily="2" charset="0"/>
              </a:rPr>
              <a:t>Improving Accuracy: </a:t>
            </a:r>
            <a:r>
              <a:rPr lang="en-US" sz="1200" dirty="0">
                <a:solidFill>
                  <a:srgbClr val="717997"/>
                </a:solidFill>
                <a:latin typeface="Roboto" panose="02000000000000000000" pitchFamily="2" charset="0"/>
                <a:ea typeface="Roboto" panose="02000000000000000000" pitchFamily="2" charset="0"/>
              </a:rPr>
              <a:t>Trying out some more advanced LLMs to improve the accuracy of the application.</a:t>
            </a:r>
            <a:endParaRPr lang="en-US" sz="1200" dirty="0">
              <a:solidFill>
                <a:srgbClr val="717997"/>
              </a:solidFill>
              <a:latin typeface="Roboto" panose="02000000000000000000" pitchFamily="2" charset="0"/>
              <a:ea typeface="Roboto" panose="02000000000000000000"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 name="Google Shape;281;p25"/>
          <p:cNvSpPr txBox="1">
            <a:spLocks noGrp="1"/>
          </p:cNvSpPr>
          <p:nvPr>
            <p:ph type="title"/>
          </p:nvPr>
        </p:nvSpPr>
        <p:spPr>
          <a:xfrm>
            <a:off x="147756" y="716280"/>
            <a:ext cx="7784664" cy="712384"/>
          </a:xfrm>
          <a:prstGeom prst="rect">
            <a:avLst/>
          </a:prstGeom>
        </p:spPr>
        <p:txBody>
          <a:bodyPr spcFirstLastPara="1" wrap="square" lIns="91425" tIns="91425" rIns="91425" bIns="91425" anchor="t" anchorCtr="0">
            <a:noAutofit/>
          </a:bodyPr>
          <a:lstStyle/>
          <a:p>
            <a:pPr marL="0" indent="0" algn="l">
              <a:lnSpc>
                <a:spcPct val="100000"/>
              </a:lnSpc>
              <a:buNone/>
            </a:pPr>
            <a:r>
              <a:rPr lang="en-US" sz="2800" b="1" dirty="0">
                <a:solidFill>
                  <a:srgbClr val="3257B8"/>
                </a:solidFill>
                <a:latin typeface="Roboto Slab" pitchFamily="34" charset="0"/>
                <a:ea typeface="Roboto Slab" pitchFamily="34" charset="-122"/>
                <a:cs typeface="Roboto Slab" pitchFamily="34" charset="-120"/>
              </a:rPr>
              <a:t>CONCLUSION:</a:t>
            </a:r>
            <a:endParaRPr lang="en-US" sz="3200" dirty="0"/>
          </a:p>
        </p:txBody>
      </p:sp>
      <p:sp>
        <p:nvSpPr>
          <p:cNvPr id="2" name="TextBox 1"/>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16</a:t>
            </a:r>
            <a:endParaRPr lang="en-US" sz="800" b="1" spc="30" dirty="0">
              <a:solidFill>
                <a:schemeClr val="tx1">
                  <a:lumMod val="60000"/>
                  <a:lumOff val="40000"/>
                </a:schemeClr>
              </a:solidFill>
              <a:latin typeface="Trebuchet MS" panose="020B0603020202020204" charset="0"/>
            </a:endParaRPr>
          </a:p>
        </p:txBody>
      </p:sp>
      <p:sp>
        <p:nvSpPr>
          <p:cNvPr id="3" name="TextBox 2"/>
          <p:cNvSpPr txBox="1"/>
          <p:nvPr/>
        </p:nvSpPr>
        <p:spPr>
          <a:xfrm>
            <a:off x="746760" y="1524000"/>
            <a:ext cx="4960620" cy="1938020"/>
          </a:xfrm>
          <a:prstGeom prst="rect">
            <a:avLst/>
          </a:prstGeom>
          <a:noFill/>
        </p:spPr>
        <p:txBody>
          <a:bodyPr wrap="square" rtlCol="0">
            <a:spAutoFit/>
          </a:bodyPr>
          <a:lstStyle/>
          <a:p>
            <a:pPr marL="171450" indent="-171450">
              <a:buFont typeface="Wingdings" panose="05000000000000000000" pitchFamily="2" charset="2"/>
              <a:buChar char="Ø"/>
            </a:pPr>
            <a:r>
              <a:rPr lang="en-US" sz="1200" b="1" dirty="0">
                <a:solidFill>
                  <a:srgbClr val="697BD5"/>
                </a:solidFill>
                <a:latin typeface="Roboto Slab" pitchFamily="34" charset="0"/>
                <a:ea typeface="Roboto Slab" pitchFamily="34" charset="0"/>
                <a:cs typeface="Roboto Slab" pitchFamily="34" charset="0"/>
              </a:rPr>
              <a:t>Bridging The Gap:</a:t>
            </a:r>
            <a:r>
              <a:rPr lang="en-US" sz="1200" dirty="0">
                <a:latin typeface="Roboto" panose="02000000000000000000" pitchFamily="2" charset="0"/>
                <a:ea typeface="Roboto" panose="02000000000000000000" pitchFamily="2" charset="0"/>
              </a:rPr>
              <a:t> </a:t>
            </a:r>
            <a:r>
              <a:rPr lang="en-US" sz="1200" dirty="0">
                <a:solidFill>
                  <a:srgbClr val="717997"/>
                </a:solidFill>
                <a:latin typeface="Roboto" panose="02000000000000000000" pitchFamily="2" charset="0"/>
                <a:ea typeface="Roboto" panose="02000000000000000000" pitchFamily="2" charset="0"/>
              </a:rPr>
              <a:t>The project successfully analyze and fill the gap between the candidate’s skillsets and the required skillsets in the production.</a:t>
            </a:r>
            <a:endParaRPr lang="en-US" sz="1200" dirty="0">
              <a:solidFill>
                <a:srgbClr val="717997"/>
              </a:solidFill>
              <a:latin typeface="Roboto" panose="02000000000000000000" pitchFamily="2" charset="0"/>
              <a:ea typeface="Roboto" panose="02000000000000000000" pitchFamily="2" charset="0"/>
            </a:endParaRPr>
          </a:p>
          <a:p>
            <a:pPr marL="171450" indent="-171450">
              <a:buFont typeface="Wingdings" panose="05000000000000000000" pitchFamily="2" charset="2"/>
              <a:buChar char="Ø"/>
            </a:pPr>
            <a:endParaRPr lang="en-US" sz="1200" dirty="0">
              <a:latin typeface="Roboto" panose="02000000000000000000" pitchFamily="2" charset="0"/>
              <a:ea typeface="Roboto" panose="02000000000000000000" pitchFamily="2" charset="0"/>
            </a:endParaRPr>
          </a:p>
          <a:p>
            <a:pPr marL="171450" indent="-171450">
              <a:buFont typeface="Wingdings" panose="05000000000000000000" pitchFamily="2" charset="2"/>
              <a:buChar char="Ø"/>
            </a:pPr>
            <a:r>
              <a:rPr lang="en-US" sz="1200" b="1" dirty="0">
                <a:solidFill>
                  <a:srgbClr val="697BD5"/>
                </a:solidFill>
                <a:latin typeface="Roboto" panose="02000000000000000000" pitchFamily="2" charset="0"/>
                <a:ea typeface="Roboto" panose="02000000000000000000" pitchFamily="2" charset="0"/>
              </a:rPr>
              <a:t>Guidance: </a:t>
            </a:r>
            <a:r>
              <a:rPr lang="en-US" sz="1200" dirty="0">
                <a:solidFill>
                  <a:srgbClr val="717997"/>
                </a:solidFill>
                <a:latin typeface="Roboto" panose="02000000000000000000" pitchFamily="2" charset="0"/>
                <a:ea typeface="Roboto" panose="02000000000000000000" pitchFamily="2" charset="0"/>
              </a:rPr>
              <a:t>By this application a job candidate surely can get a guidance for imporving his skillsets as recomended.</a:t>
            </a:r>
            <a:endParaRPr lang="en-US" sz="1200" dirty="0">
              <a:solidFill>
                <a:srgbClr val="717997"/>
              </a:solidFill>
              <a:latin typeface="Roboto" panose="02000000000000000000" pitchFamily="2" charset="0"/>
              <a:ea typeface="Roboto" panose="02000000000000000000" pitchFamily="2" charset="0"/>
            </a:endParaRPr>
          </a:p>
          <a:p>
            <a:pPr marL="171450" indent="-171450">
              <a:buFont typeface="Wingdings" panose="05000000000000000000" pitchFamily="2" charset="2"/>
              <a:buChar char="Ø"/>
            </a:pPr>
            <a:endParaRPr lang="en-US" sz="1200" dirty="0">
              <a:solidFill>
                <a:srgbClr val="717997"/>
              </a:solidFill>
              <a:latin typeface="Roboto" panose="02000000000000000000" pitchFamily="2" charset="0"/>
              <a:ea typeface="Roboto" panose="02000000000000000000" pitchFamily="2" charset="0"/>
            </a:endParaRPr>
          </a:p>
          <a:p>
            <a:pPr marL="171450" indent="-171450">
              <a:buFont typeface="Wingdings" panose="05000000000000000000" pitchFamily="2" charset="2"/>
              <a:buChar char="Ø"/>
            </a:pPr>
            <a:endParaRPr lang="en-US" sz="1200" dirty="0">
              <a:solidFill>
                <a:srgbClr val="717997"/>
              </a:solidFill>
              <a:latin typeface="Roboto" panose="02000000000000000000" pitchFamily="2" charset="0"/>
              <a:ea typeface="Roboto" panose="02000000000000000000" pitchFamily="2" charset="0"/>
            </a:endParaRPr>
          </a:p>
          <a:p>
            <a:pPr marL="0" indent="0">
              <a:buFont typeface="Wingdings" panose="05000000000000000000" pitchFamily="2" charset="2"/>
              <a:buNone/>
            </a:pPr>
            <a:endParaRPr lang="en-US" sz="1200" dirty="0">
              <a:solidFill>
                <a:srgbClr val="717997"/>
              </a:solidFill>
              <a:latin typeface="Roboto" panose="02000000000000000000" pitchFamily="2" charset="0"/>
              <a:ea typeface="Roboto" panose="02000000000000000000" pitchFamily="2" charset="0"/>
            </a:endParaRPr>
          </a:p>
          <a:p>
            <a:pPr marL="0" indent="0">
              <a:buFont typeface="Wingdings" panose="05000000000000000000" pitchFamily="2" charset="2"/>
              <a:buNone/>
            </a:pPr>
            <a:endParaRPr lang="en-US" sz="1200" dirty="0">
              <a:solidFill>
                <a:srgbClr val="717997"/>
              </a:solidFill>
              <a:latin typeface="Roboto" panose="02000000000000000000" pitchFamily="2" charset="0"/>
              <a:ea typeface="Roboto" panose="02000000000000000000" pitchFamily="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20" name="Google Shape;281;p25"/>
          <p:cNvSpPr txBox="1">
            <a:spLocks noGrp="1"/>
          </p:cNvSpPr>
          <p:nvPr>
            <p:ph type="title"/>
          </p:nvPr>
        </p:nvSpPr>
        <p:spPr>
          <a:xfrm>
            <a:off x="147756" y="716280"/>
            <a:ext cx="7784664" cy="712384"/>
          </a:xfrm>
          <a:prstGeom prst="rect">
            <a:avLst/>
          </a:prstGeom>
        </p:spPr>
        <p:txBody>
          <a:bodyPr spcFirstLastPara="1" wrap="square" lIns="91425" tIns="91425" rIns="91425" bIns="91425" anchor="t" anchorCtr="0">
            <a:noAutofit/>
          </a:bodyPr>
          <a:lstStyle/>
          <a:p>
            <a:pPr marL="0" indent="0" algn="l">
              <a:lnSpc>
                <a:spcPct val="100000"/>
              </a:lnSpc>
              <a:buNone/>
            </a:pPr>
            <a:r>
              <a:rPr lang="en-US" sz="2800" b="1" dirty="0">
                <a:solidFill>
                  <a:srgbClr val="3257B8"/>
                </a:solidFill>
                <a:latin typeface="Roboto Slab" pitchFamily="34" charset="0"/>
                <a:ea typeface="Roboto Slab" pitchFamily="34" charset="-122"/>
                <a:cs typeface="Roboto Slab" pitchFamily="34" charset="-120"/>
              </a:rPr>
              <a:t>REFERENCES:</a:t>
            </a:r>
            <a:endParaRPr lang="en-US" sz="3200" dirty="0"/>
          </a:p>
        </p:txBody>
      </p:sp>
      <p:sp>
        <p:nvSpPr>
          <p:cNvPr id="2" name="TextBox 1"/>
          <p:cNvSpPr txBox="1"/>
          <p:nvPr/>
        </p:nvSpPr>
        <p:spPr>
          <a:xfrm>
            <a:off x="8526796" y="4750231"/>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17</a:t>
            </a:r>
            <a:endParaRPr lang="en-US" sz="800" b="1" spc="30" dirty="0">
              <a:solidFill>
                <a:schemeClr val="tx1">
                  <a:lumMod val="60000"/>
                  <a:lumOff val="40000"/>
                </a:schemeClr>
              </a:solidFill>
              <a:latin typeface="Trebuchet MS" panose="020B0603020202020204" charset="0"/>
            </a:endParaRPr>
          </a:p>
        </p:txBody>
      </p:sp>
      <p:sp>
        <p:nvSpPr>
          <p:cNvPr id="3" name="TextBox 2"/>
          <p:cNvSpPr txBox="1"/>
          <p:nvPr/>
        </p:nvSpPr>
        <p:spPr>
          <a:xfrm>
            <a:off x="746760" y="1524000"/>
            <a:ext cx="4981575" cy="1673860"/>
          </a:xfrm>
          <a:prstGeom prst="rect">
            <a:avLst/>
          </a:prstGeom>
          <a:noFill/>
        </p:spPr>
        <p:txBody>
          <a:bodyPr wrap="square" rtlCol="0">
            <a:noAutofit/>
          </a:bodyPr>
          <a:lstStyle/>
          <a:p>
            <a:pPr marL="0" indent="0">
              <a:lnSpc>
                <a:spcPct val="150000"/>
              </a:lnSpc>
              <a:buFont typeface="Wingdings" panose="05000000000000000000" pitchFamily="2" charset="2"/>
              <a:buNone/>
            </a:pPr>
            <a:endParaRPr lang="en-US" sz="1200" b="1" dirty="0">
              <a:solidFill>
                <a:srgbClr val="697BD5"/>
              </a:solidFill>
              <a:latin typeface="Roboto Slab" pitchFamily="34" charset="0"/>
              <a:ea typeface="Roboto Slab" pitchFamily="34" charset="0"/>
              <a:cs typeface="Roboto Slab" pitchFamily="34" charset="0"/>
            </a:endParaRPr>
          </a:p>
          <a:p>
            <a:pPr marL="171450" indent="-171450">
              <a:lnSpc>
                <a:spcPct val="150000"/>
              </a:lnSpc>
              <a:buFont typeface="Wingdings" panose="05000000000000000000" pitchFamily="2" charset="2"/>
              <a:buChar char="Ø"/>
            </a:pPr>
            <a:r>
              <a:rPr lang="en-US" altLang="en-GB" sz="1200" b="1" dirty="0">
                <a:solidFill>
                  <a:srgbClr val="697BD5"/>
                </a:solidFill>
                <a:latin typeface="Roboto Slab" pitchFamily="34" charset="0"/>
                <a:ea typeface="Roboto Slab" pitchFamily="34" charset="0"/>
                <a:cs typeface="Roboto Slab" pitchFamily="34" charset="0"/>
              </a:rPr>
              <a:t>https://nextjs.org/</a:t>
            </a:r>
            <a:endParaRPr lang="en-US" altLang="en-GB" sz="1200" b="1" dirty="0">
              <a:solidFill>
                <a:srgbClr val="697BD5"/>
              </a:solidFill>
              <a:latin typeface="Roboto Slab" pitchFamily="34" charset="0"/>
              <a:ea typeface="Roboto Slab" pitchFamily="34" charset="0"/>
              <a:cs typeface="Roboto Slab" pitchFamily="34" charset="0"/>
            </a:endParaRPr>
          </a:p>
          <a:p>
            <a:pPr marL="171450" indent="-171450">
              <a:lnSpc>
                <a:spcPct val="150000"/>
              </a:lnSpc>
              <a:buFont typeface="Wingdings" panose="05000000000000000000" pitchFamily="2" charset="2"/>
              <a:buChar char="Ø"/>
            </a:pPr>
            <a:r>
              <a:rPr lang="en-US" altLang="en-GB" sz="1200" b="1" dirty="0">
                <a:solidFill>
                  <a:srgbClr val="697BD5"/>
                </a:solidFill>
                <a:latin typeface="Roboto Slab" pitchFamily="34" charset="0"/>
                <a:ea typeface="Roboto Slab" pitchFamily="34" charset="0"/>
                <a:cs typeface="Roboto Slab" pitchFamily="34" charset="0"/>
              </a:rPr>
              <a:t>https://www.typescriptlang.org/</a:t>
            </a:r>
            <a:endParaRPr lang="en-US" altLang="en-GB" sz="1200" b="1" dirty="0">
              <a:solidFill>
                <a:srgbClr val="697BD5"/>
              </a:solidFill>
              <a:latin typeface="Roboto Slab" pitchFamily="34" charset="0"/>
              <a:ea typeface="Roboto Slab" pitchFamily="34" charset="0"/>
              <a:cs typeface="Roboto Slab" pitchFamily="34" charset="0"/>
            </a:endParaRPr>
          </a:p>
          <a:p>
            <a:pPr marL="171450" indent="-171450">
              <a:lnSpc>
                <a:spcPct val="150000"/>
              </a:lnSpc>
              <a:buFont typeface="Wingdings" panose="05000000000000000000" pitchFamily="2" charset="2"/>
              <a:buChar char="Ø"/>
            </a:pPr>
            <a:r>
              <a:rPr lang="en-US" altLang="en-GB" sz="1200" b="1" dirty="0">
                <a:solidFill>
                  <a:srgbClr val="697BD5"/>
                </a:solidFill>
                <a:latin typeface="Roboto Slab" pitchFamily="34" charset="0"/>
                <a:ea typeface="Roboto Slab" pitchFamily="34" charset="0"/>
                <a:cs typeface="Roboto Slab" pitchFamily="34" charset="0"/>
              </a:rPr>
              <a:t>https://tailwindcss.com/</a:t>
            </a:r>
            <a:endParaRPr lang="en-US" altLang="en-GB" sz="1200" b="1" dirty="0">
              <a:solidFill>
                <a:srgbClr val="697BD5"/>
              </a:solidFill>
              <a:latin typeface="Roboto Slab" pitchFamily="34" charset="0"/>
              <a:ea typeface="Roboto Slab" pitchFamily="34" charset="0"/>
              <a:cs typeface="Roboto Slab" pitchFamily="34" charset="0"/>
            </a:endParaRPr>
          </a:p>
          <a:p>
            <a:pPr marL="171450" indent="-171450">
              <a:lnSpc>
                <a:spcPct val="150000"/>
              </a:lnSpc>
              <a:buFont typeface="Wingdings" panose="05000000000000000000" pitchFamily="2" charset="2"/>
              <a:buChar char="Ø"/>
            </a:pPr>
            <a:r>
              <a:rPr lang="en-US" altLang="en-GB" sz="1200" b="1" dirty="0">
                <a:solidFill>
                  <a:srgbClr val="697BD5"/>
                </a:solidFill>
                <a:latin typeface="Roboto Slab" pitchFamily="34" charset="0"/>
                <a:ea typeface="Roboto Slab" pitchFamily="34" charset="0"/>
                <a:cs typeface="Roboto Slab" pitchFamily="34" charset="0"/>
              </a:rPr>
              <a:t>https://www.sarvam.ai/</a:t>
            </a:r>
            <a:endParaRPr lang="en-US" altLang="en-GB" sz="1200" b="1" dirty="0">
              <a:solidFill>
                <a:srgbClr val="697BD5"/>
              </a:solidFill>
              <a:latin typeface="Roboto Slab" pitchFamily="34" charset="0"/>
              <a:ea typeface="Roboto Slab" pitchFamily="34" charset="0"/>
              <a:cs typeface="Roboto Slab" pitchFamily="34" charset="0"/>
            </a:endParaRPr>
          </a:p>
          <a:p>
            <a:pPr marL="171450" indent="-171450">
              <a:lnSpc>
                <a:spcPct val="150000"/>
              </a:lnSpc>
              <a:buFont typeface="Wingdings" panose="05000000000000000000" pitchFamily="2" charset="2"/>
              <a:buChar char="Ø"/>
            </a:pPr>
            <a:r>
              <a:rPr lang="en-US" altLang="en-GB" sz="1200" b="1" dirty="0">
                <a:solidFill>
                  <a:srgbClr val="697BD5"/>
                </a:solidFill>
                <a:latin typeface="Roboto Slab" pitchFamily="34" charset="0"/>
                <a:ea typeface="Roboto Slab" pitchFamily="34" charset="0"/>
                <a:cs typeface="Roboto Slab" pitchFamily="34" charset="0"/>
              </a:rPr>
              <a:t>gemini</a:t>
            </a:r>
            <a:endParaRPr lang="en-US" altLang="en-GB" sz="1200" b="1" dirty="0">
              <a:solidFill>
                <a:srgbClr val="697BD5"/>
              </a:solidFill>
              <a:latin typeface="Roboto Slab" pitchFamily="34" charset="0"/>
              <a:ea typeface="Roboto Slab" pitchFamily="34" charset="0"/>
              <a:cs typeface="Roboto Slab" pitchFamily="34" charset="0"/>
            </a:endParaRPr>
          </a:p>
          <a:p>
            <a:pPr marL="171450" indent="-171450">
              <a:lnSpc>
                <a:spcPct val="150000"/>
              </a:lnSpc>
              <a:buFont typeface="Wingdings" panose="05000000000000000000" pitchFamily="2" charset="2"/>
              <a:buChar char="Ø"/>
            </a:pPr>
            <a:endParaRPr lang="en-US" altLang="en-GB" sz="1200" b="1" dirty="0">
              <a:solidFill>
                <a:srgbClr val="697BD5"/>
              </a:solidFill>
              <a:latin typeface="Roboto Slab" pitchFamily="34" charset="0"/>
              <a:ea typeface="Roboto Slab" pitchFamily="34" charset="0"/>
              <a:cs typeface="Roboto Slab" pitchFamily="34" charset="0"/>
            </a:endParaRPr>
          </a:p>
          <a:p>
            <a:pPr marL="171450" indent="-171450">
              <a:lnSpc>
                <a:spcPct val="150000"/>
              </a:lnSpc>
              <a:buFont typeface="Wingdings" panose="05000000000000000000" pitchFamily="2" charset="2"/>
              <a:buChar char="Ø"/>
            </a:pPr>
            <a:endParaRPr lang="en-US" sz="1200" b="1" dirty="0">
              <a:solidFill>
                <a:srgbClr val="697BD5"/>
              </a:solidFill>
              <a:latin typeface="Roboto Slab" pitchFamily="34" charset="0"/>
              <a:ea typeface="Roboto Slab" pitchFamily="34" charset="0"/>
              <a:cs typeface="Roboto Slab" pitchFamily="34" charset="0"/>
              <a:hlinkClick r:id="rId1"/>
            </a:endParaRPr>
          </a:p>
          <a:p>
            <a:pPr marL="171450" indent="-171450">
              <a:lnSpc>
                <a:spcPct val="150000"/>
              </a:lnSpc>
              <a:buFont typeface="Wingdings" panose="05000000000000000000" pitchFamily="2" charset="2"/>
              <a:buChar char="Ø"/>
            </a:pPr>
            <a:endParaRPr lang="en-US" sz="1200" dirty="0">
              <a:solidFill>
                <a:srgbClr val="697BD5"/>
              </a:solidFill>
              <a:latin typeface="Roboto" panose="02000000000000000000" pitchFamily="2" charset="0"/>
              <a:ea typeface="Roboto" panose="02000000000000000000"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nk blot with black text&#10;&#10;AI-generated content may be incorrect."/>
          <p:cNvPicPr>
            <a:picLocks noChangeAspect="1"/>
          </p:cNvPicPr>
          <p:nvPr/>
        </p:nvPicPr>
        <p:blipFill>
          <a:blip r:embed="rId1">
            <a:extLst>
              <a:ext uri="{BEBA8EAE-BF5A-486C-A8C5-ECC9F3942E4B}">
                <a14:imgProps xmlns:a14="http://schemas.microsoft.com/office/drawing/2010/main">
                  <a14:imgLayer r:embed="rId2">
                    <a14:imgEffect>
                      <a14:colorTemperature colorTemp="5300"/>
                    </a14:imgEffect>
                  </a14:imgLayer>
                </a14:imgProps>
              </a:ext>
            </a:extLst>
          </a:blip>
          <a:stretch>
            <a:fillRect/>
          </a:stretch>
        </p:blipFill>
        <p:spPr>
          <a:xfrm>
            <a:off x="2000250" y="0"/>
            <a:ext cx="5143500" cy="5143500"/>
          </a:xfrm>
          <a:prstGeom prst="rect">
            <a:avLst/>
          </a:prstGeom>
        </p:spPr>
      </p:pic>
      <p:sp>
        <p:nvSpPr>
          <p:cNvPr id="2" name="TextBox 1"/>
          <p:cNvSpPr txBox="1"/>
          <p:nvPr/>
        </p:nvSpPr>
        <p:spPr>
          <a:xfrm>
            <a:off x="8525883" y="4809014"/>
            <a:ext cx="617204" cy="215444"/>
          </a:xfrm>
          <a:prstGeom prst="rect">
            <a:avLst/>
          </a:prstGeom>
          <a:noFill/>
          <a:ln>
            <a:noFill/>
          </a:ln>
        </p:spPr>
        <p:txBody>
          <a:bodyPr wrap="square" rtlCol="0">
            <a:spAutoFit/>
          </a:bodyPr>
          <a:lstStyle/>
          <a:p>
            <a:r>
              <a:rPr lang="en-US" sz="800" b="1" spc="30" dirty="0">
                <a:solidFill>
                  <a:schemeClr val="tx1">
                    <a:lumMod val="60000"/>
                    <a:lumOff val="40000"/>
                  </a:schemeClr>
                </a:solidFill>
                <a:latin typeface="Trebuchet MS" panose="020B0603020202020204" charset="0"/>
              </a:rPr>
              <a:t>PAGE 13</a:t>
            </a:r>
            <a:endParaRPr lang="en-US" sz="800" b="1" spc="30" dirty="0">
              <a:solidFill>
                <a:schemeClr val="tx1">
                  <a:lumMod val="60000"/>
                  <a:lumOff val="40000"/>
                </a:schemeClr>
              </a:solidFill>
              <a:latin typeface="Trebuchet MS" panose="020B0603020202020204" charset="0"/>
            </a:endParaRPr>
          </a:p>
        </p:txBody>
      </p:sp>
    </p:spTree>
  </p:cSld>
  <p:clrMapOvr>
    <a:masterClrMapping/>
  </p:clrMapOvr>
</p:sld>
</file>

<file path=ppt/theme/theme1.xml><?xml version="1.0" encoding="utf-8"?>
<a:theme xmlns:a="http://schemas.openxmlformats.org/drawingml/2006/main" name="Artificial Intelligence by Slidesgo">
  <a:themeElements>
    <a:clrScheme name="Simple Light">
      <a:dk1>
        <a:srgbClr val="333746"/>
      </a:dk1>
      <a:lt1>
        <a:srgbClr val="5B627D"/>
      </a:lt1>
      <a:dk2>
        <a:srgbClr val="C8D3F4"/>
      </a:dk2>
      <a:lt2>
        <a:srgbClr val="E6E9F8"/>
      </a:lt2>
      <a:accent1>
        <a:srgbClr val="6D6AF7"/>
      </a:accent1>
      <a:accent2>
        <a:srgbClr val="EDBBD8"/>
      </a:accent2>
      <a:accent3>
        <a:srgbClr val="E67CB9"/>
      </a:accent3>
      <a:accent4>
        <a:srgbClr val="FFFFFF"/>
      </a:accent4>
      <a:accent5>
        <a:srgbClr val="FFFFFF"/>
      </a:accent5>
      <a:accent6>
        <a:srgbClr val="FFFFFF"/>
      </a:accent6>
      <a:hlink>
        <a:srgbClr val="33374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3920</Words>
  <Application>WPS Presentation</Application>
  <PresentationFormat>On-screen Show (16:9)</PresentationFormat>
  <Paragraphs>141</Paragraphs>
  <Slides>13</Slides>
  <Notes>17</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13</vt:i4>
      </vt:variant>
    </vt:vector>
  </HeadingPairs>
  <TitlesOfParts>
    <vt:vector size="33" baseType="lpstr">
      <vt:lpstr>Arial</vt:lpstr>
      <vt:lpstr>SimSun</vt:lpstr>
      <vt:lpstr>Wingdings</vt:lpstr>
      <vt:lpstr>Arial</vt:lpstr>
      <vt:lpstr>Golos Text Medium</vt:lpstr>
      <vt:lpstr>Golos Text</vt:lpstr>
      <vt:lpstr>Bebas Neue</vt:lpstr>
      <vt:lpstr>Mafra-Medium</vt:lpstr>
      <vt:lpstr>Trebuchet MS</vt:lpstr>
      <vt:lpstr>Times New Roman</vt:lpstr>
      <vt:lpstr>Roboto</vt:lpstr>
      <vt:lpstr>Segoe UI Semibold</vt:lpstr>
      <vt:lpstr>Inter</vt:lpstr>
      <vt:lpstr>Roboto Slab</vt:lpstr>
      <vt:lpstr>Roboto Slab</vt:lpstr>
      <vt:lpstr>Roboto Slab</vt:lpstr>
      <vt:lpstr>Microsoft YaHei</vt:lpstr>
      <vt:lpstr>Arial Unicode MS</vt:lpstr>
      <vt:lpstr>MV Boli</vt:lpstr>
      <vt:lpstr>Artificial Intelligence by Slidesgo</vt:lpstr>
      <vt:lpstr>Project Presentation</vt:lpstr>
      <vt:lpstr>OBJECTIVE:</vt:lpstr>
      <vt:lpstr>ABSTRACT:</vt:lpstr>
      <vt:lpstr>TECH STACKS:</vt:lpstr>
      <vt:lpstr>PROPOSED APPROACH:</vt:lpstr>
      <vt:lpstr>OVERVIEW OF USER INTERFACE:</vt:lpstr>
      <vt:lpstr>OVERVIEW OF AUTH FORMS:</vt:lpstr>
      <vt:lpstr>OVERVIEW OF DASHBOARD:</vt:lpstr>
      <vt:lpstr>OVERVIEW OF ANALYSIS :</vt:lpstr>
      <vt:lpstr>FUTURE WORK:</vt:lpstr>
      <vt:lpstr>CONCLUSION:</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Kanad Shee</dc:creator>
  <cp:lastModifiedBy>Krishanu Banerjee</cp:lastModifiedBy>
  <cp:revision>29</cp:revision>
  <dcterms:created xsi:type="dcterms:W3CDTF">2026-03-07T11:51:00Z</dcterms:created>
  <dcterms:modified xsi:type="dcterms:W3CDTF">2026-03-08T08:13:19Z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E8A919EC94F648DEBC4568E82FCD30DB_13</vt:lpwstr>
  </property>
  <property fmtid="{D5CDD505-2E9C-101B-9397-08002B2CF9AE}" pid="3" name="KSOProductBuildVer">
    <vt:lpwstr>2057-12.2.0.23197</vt:lpwstr>
  </property>
</Properties>
</file>